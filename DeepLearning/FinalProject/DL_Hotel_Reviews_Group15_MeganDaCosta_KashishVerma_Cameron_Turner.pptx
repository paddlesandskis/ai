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87997393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87997393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f87997393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f87997393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f87997393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f87997393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f87997393_0_1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f87997393_0_1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f87997393_0_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f87997393_0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646beb52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d646beb52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f87997393_0_1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f87997393_0_1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f87997393_0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f87997393_0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de4f6782b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de4f6782b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406605.jpg" id="10" name="Google Shape;10;p2"/>
          <p:cNvPicPr preferRelativeResize="0"/>
          <p:nvPr/>
        </p:nvPicPr>
        <p:blipFill rotWithShape="1">
          <a:blip r:embed="rId2">
            <a:alphaModFix amt="66000"/>
          </a:blip>
          <a:srcRect b="39566" l="20992" r="40113" t="2691"/>
          <a:stretch/>
        </p:blipFill>
        <p:spPr>
          <a:xfrm>
            <a:off x="0" y="0"/>
            <a:ext cx="5157900" cy="5143500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offset_comp_342327_edtied.jpg" id="11" name="Google Shape;11;p2"/>
          <p:cNvPicPr preferRelativeResize="0"/>
          <p:nvPr/>
        </p:nvPicPr>
        <p:blipFill rotWithShape="1">
          <a:blip r:embed="rId3">
            <a:alphaModFix amt="31000"/>
          </a:blip>
          <a:srcRect b="11298" l="14010" r="43290" t="35834"/>
          <a:stretch/>
        </p:blipFill>
        <p:spPr>
          <a:xfrm rot="10800000">
            <a:off x="6976800" y="-25"/>
            <a:ext cx="2167200" cy="20127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5846" y="-4836"/>
            <a:ext cx="2291400" cy="2300100"/>
          </a:xfrm>
          <a:prstGeom prst="diagStrip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652821" y="576768"/>
            <a:ext cx="2300100" cy="2291400"/>
          </a:xfrm>
          <a:prstGeom prst="diagStrip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9" name="Google Shape;19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" name="Google Shape;39;p3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">
  <p:cSld name="SECTION_HEADER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45" name="Google Shape;45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4" name="Google Shape;64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1">
  <p:cSld name="TITLE_AND_BODY_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8" name="Google Shape;78;p6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>
            <p:ph idx="1" type="body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6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5" name="Google Shape;85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6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2">
  <p:cSld name="TITLE_AND_BODY_2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/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" name="Google Shape;91;p7"/>
          <p:cNvSpPr/>
          <p:nvPr/>
        </p:nvSpPr>
        <p:spPr>
          <a:xfrm>
            <a:off x="0" y="3486600"/>
            <a:ext cx="9144000" cy="165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7" name="Google Shape;97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7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7"/>
          <p:cNvSpPr txBox="1"/>
          <p:nvPr>
            <p:ph idx="1" type="body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" name="Google Shape;107;p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8" name="Google Shape;108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" name="Google Shape;111;p8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20" name="Google Shape;120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" name="Google Shape;12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10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0" name="Google Shape;130;p1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0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3" name="Google Shape;133;p10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41" name="Google Shape;141;p1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11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1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67" name="Google Shape;167;p1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12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12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71" name="Google Shape;171;p12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3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75" name="Google Shape;175;p13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13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78" name="Google Shape;17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9" name="Google Shape;179;p13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5" name="Google Shape;185;p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14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4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5" name="Google Shape;20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14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3">
  <p:cSld name="TITLE_AND_BODY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343059.jpg" id="213" name="Google Shape;213;p16"/>
          <p:cNvPicPr preferRelativeResize="0"/>
          <p:nvPr/>
        </p:nvPicPr>
        <p:blipFill rotWithShape="1">
          <a:blip r:embed="rId2">
            <a:alphaModFix amt="80000"/>
          </a:blip>
          <a:srcRect b="25870" l="30475" r="30475" t="11956"/>
          <a:stretch/>
        </p:blipFill>
        <p:spPr>
          <a:xfrm rot="-5400000">
            <a:off x="113630" y="-105700"/>
            <a:ext cx="5142300" cy="5364300"/>
          </a:xfrm>
          <a:prstGeom prst="diagStripe">
            <a:avLst>
              <a:gd fmla="val 50343" name="adj"/>
            </a:avLst>
          </a:prstGeom>
          <a:noFill/>
          <a:ln>
            <a:noFill/>
          </a:ln>
        </p:spPr>
      </p:pic>
      <p:sp>
        <p:nvSpPr>
          <p:cNvPr id="214" name="Google Shape;21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5" name="Google Shape;215;p16"/>
          <p:cNvSpPr txBox="1"/>
          <p:nvPr>
            <p:ph idx="1" type="body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7" name="Google Shape;217;p16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222" name="Google Shape;222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kaggle.com/competitions/traveler-insights-utb" TargetMode="External"/><Relationship Id="rId4" Type="http://schemas.openxmlformats.org/officeDocument/2006/relationships/hyperlink" Target="https://www.kaggle.com/datasets/thedevastator/tripadvisor-hotel-reviews" TargetMode="External"/><Relationship Id="rId5" Type="http://schemas.openxmlformats.org/officeDocument/2006/relationships/hyperlink" Target="https://huggingface.co/datasets/argilla/tripadvisor-hotel-reviews" TargetMode="External"/><Relationship Id="rId6" Type="http://schemas.openxmlformats.org/officeDocument/2006/relationships/hyperlink" Target="https://www.kaggle.com/datasets/jkgatt/restaurant-data-with-100-trip-advisor-reviews-each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TripAdvisor Sentiment Search Engine</a:t>
            </a:r>
            <a:endParaRPr/>
          </a:p>
        </p:txBody>
      </p:sp>
      <p:sp>
        <p:nvSpPr>
          <p:cNvPr id="229" name="Google Shape;229;p17"/>
          <p:cNvSpPr txBox="1"/>
          <p:nvPr>
            <p:ph idx="1" type="subTitle"/>
          </p:nvPr>
        </p:nvSpPr>
        <p:spPr>
          <a:xfrm>
            <a:off x="4670550" y="3734975"/>
            <a:ext cx="38841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 15 - SCS_3546_039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Megan Da Costa, Cameron Turner, Kashish Verma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TripAdvisor Search Engine Background</a:t>
            </a:r>
            <a:endParaRPr/>
          </a:p>
        </p:txBody>
      </p:sp>
      <p:sp>
        <p:nvSpPr>
          <p:cNvPr id="235" name="Google Shape;23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Travel search platforms such as TripAdvisor utilise millions of reviews and location based information, generating extensive data.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Users seek to use sentiment while querying through location-based data.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Deep Learning and Natural Language Processing can train a machine on meaning behind user searches and present results more closely related to their wants.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Semantic search engines allows for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retrieval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of contextual data based on meaning.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Goal             Create an engine to search travel data for relevance based on semantic relation.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8"/>
          <p:cNvSpPr/>
          <p:nvPr/>
        </p:nvSpPr>
        <p:spPr>
          <a:xfrm>
            <a:off x="1908875" y="4134275"/>
            <a:ext cx="267300" cy="7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 Structure/Pipeline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469300" y="3586501"/>
            <a:ext cx="5517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43" name="Google Shape;243;p19"/>
          <p:cNvSpPr txBox="1"/>
          <p:nvPr>
            <p:ph idx="1" type="body"/>
          </p:nvPr>
        </p:nvSpPr>
        <p:spPr>
          <a:xfrm>
            <a:off x="828475" y="3715500"/>
            <a:ext cx="2899800" cy="3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FFFFFF"/>
                </a:solidFill>
              </a:rPr>
              <a:t>Data Collection and Pre-Processing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3130200" y="4102950"/>
            <a:ext cx="6066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45" name="Google Shape;245;p19"/>
          <p:cNvSpPr txBox="1"/>
          <p:nvPr>
            <p:ph idx="1" type="body"/>
          </p:nvPr>
        </p:nvSpPr>
        <p:spPr>
          <a:xfrm>
            <a:off x="3584400" y="4183050"/>
            <a:ext cx="22326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FFFFFF"/>
                </a:solidFill>
              </a:rPr>
              <a:t>Conversion of Textual Data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5313675" y="4442400"/>
            <a:ext cx="8808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47" name="Google Shape;247;p19"/>
          <p:cNvSpPr txBox="1"/>
          <p:nvPr>
            <p:ph idx="1" type="body"/>
          </p:nvPr>
        </p:nvSpPr>
        <p:spPr>
          <a:xfrm>
            <a:off x="5749700" y="4518599"/>
            <a:ext cx="2797800" cy="4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FFFFFF"/>
                </a:solidFill>
              </a:rPr>
              <a:t>Deep Learning Predictive Analysis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48" name="Google Shape;2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082850"/>
            <a:ext cx="5728601" cy="260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9"/>
          <p:cNvSpPr txBox="1"/>
          <p:nvPr/>
        </p:nvSpPr>
        <p:spPr>
          <a:xfrm>
            <a:off x="5782750" y="1026175"/>
            <a:ext cx="32358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 from Kaggle dataset, consisting of Hotel Reviews based on location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 txBox="1"/>
          <p:nvPr>
            <p:ph type="title"/>
          </p:nvPr>
        </p:nvSpPr>
        <p:spPr>
          <a:xfrm>
            <a:off x="1103925" y="547650"/>
            <a:ext cx="2634300" cy="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Code Samples and Libraries</a:t>
            </a:r>
            <a:endParaRPr/>
          </a:p>
        </p:txBody>
      </p:sp>
      <p:pic>
        <p:nvPicPr>
          <p:cNvPr id="255" name="Google Shape;25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79263"/>
            <a:ext cx="4074000" cy="4753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6" name="Google Shape;25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975" y="1542900"/>
            <a:ext cx="3277950" cy="28195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7" name="Google Shape;25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1624" y="3787525"/>
            <a:ext cx="2441275" cy="12447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58" name="Google Shape;258;p20"/>
          <p:cNvCxnSpPr/>
          <p:nvPr/>
        </p:nvCxnSpPr>
        <p:spPr>
          <a:xfrm>
            <a:off x="3764275" y="2857500"/>
            <a:ext cx="5715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and Performance</a:t>
            </a:r>
            <a:endParaRPr/>
          </a:p>
        </p:txBody>
      </p:sp>
      <p:sp>
        <p:nvSpPr>
          <p:cNvPr id="264" name="Google Shape;264;p21"/>
          <p:cNvSpPr txBox="1"/>
          <p:nvPr>
            <p:ph idx="1" type="body"/>
          </p:nvPr>
        </p:nvSpPr>
        <p:spPr>
          <a:xfrm>
            <a:off x="1297500" y="925750"/>
            <a:ext cx="7038900" cy="16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Sentiment analysis using sentence BERT model correctly yielded the most </a:t>
            </a:r>
            <a:r>
              <a:rPr lang="en-GB"/>
              <a:t>closely</a:t>
            </a:r>
            <a:r>
              <a:rPr lang="en-GB"/>
              <a:t> related reviews to an input sentence/word/sentiment</a:t>
            </a:r>
            <a:endParaRPr/>
          </a:p>
        </p:txBody>
      </p:sp>
      <p:pic>
        <p:nvPicPr>
          <p:cNvPr id="265" name="Google Shape;265;p21" title="Screenshot 2026-04-14 2233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075" y="1997475"/>
            <a:ext cx="2955231" cy="2164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1" title="Screenshot 2026-04-14 22332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5231" y="1997475"/>
            <a:ext cx="3029109" cy="2164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1" title="Screenshot 2026-04-14 22334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5275" y="1997475"/>
            <a:ext cx="2862651" cy="216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Application Example</a:t>
            </a:r>
            <a:endParaRPr/>
          </a:p>
        </p:txBody>
      </p:sp>
      <p:sp>
        <p:nvSpPr>
          <p:cNvPr id="273" name="Google Shape;273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567550"/>
            <a:ext cx="6338600" cy="337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2"/>
          <p:cNvSpPr txBox="1"/>
          <p:nvPr/>
        </p:nvSpPr>
        <p:spPr>
          <a:xfrm>
            <a:off x="2846750" y="1059825"/>
            <a:ext cx="7176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Query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275800" y="2501375"/>
            <a:ext cx="6660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City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7708500" y="3873325"/>
            <a:ext cx="13629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Mapped Results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101750" y="4278325"/>
            <a:ext cx="13629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Hotel / Review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9" name="Google Shape;279;p22"/>
          <p:cNvCxnSpPr>
            <a:stCxn id="276" idx="3"/>
          </p:cNvCxnSpPr>
          <p:nvPr/>
        </p:nvCxnSpPr>
        <p:spPr>
          <a:xfrm flipH="1" rot="10800000">
            <a:off x="941800" y="2444375"/>
            <a:ext cx="523200" cy="259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" name="Google Shape;280;p22"/>
          <p:cNvCxnSpPr>
            <a:stCxn id="275" idx="2"/>
          </p:cNvCxnSpPr>
          <p:nvPr/>
        </p:nvCxnSpPr>
        <p:spPr>
          <a:xfrm flipH="1">
            <a:off x="2568350" y="1464825"/>
            <a:ext cx="637200" cy="3354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1" name="Google Shape;281;p22"/>
          <p:cNvCxnSpPr>
            <a:stCxn id="278" idx="3"/>
          </p:cNvCxnSpPr>
          <p:nvPr/>
        </p:nvCxnSpPr>
        <p:spPr>
          <a:xfrm>
            <a:off x="1464650" y="4480825"/>
            <a:ext cx="2200500" cy="123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" name="Google Shape;282;p22"/>
          <p:cNvCxnSpPr>
            <a:stCxn id="277" idx="1"/>
          </p:cNvCxnSpPr>
          <p:nvPr/>
        </p:nvCxnSpPr>
        <p:spPr>
          <a:xfrm rot="10800000">
            <a:off x="4510200" y="3852925"/>
            <a:ext cx="3198300" cy="2229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3"/>
          <p:cNvSpPr txBox="1"/>
          <p:nvPr>
            <p:ph type="title"/>
          </p:nvPr>
        </p:nvSpPr>
        <p:spPr>
          <a:xfrm>
            <a:off x="1289850" y="390950"/>
            <a:ext cx="2856600" cy="8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Conclusion &amp; Further Research</a:t>
            </a:r>
            <a:endParaRPr/>
          </a:p>
        </p:txBody>
      </p:sp>
      <p:sp>
        <p:nvSpPr>
          <p:cNvPr id="288" name="Google Shape;288;p23"/>
          <p:cNvSpPr txBox="1"/>
          <p:nvPr>
            <p:ph idx="1" type="body"/>
          </p:nvPr>
        </p:nvSpPr>
        <p:spPr>
          <a:xfrm>
            <a:off x="6451275" y="1535750"/>
            <a:ext cx="2304900" cy="21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Research</a:t>
            </a:r>
            <a:endParaRPr/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Fine-tune the deep learning model to improve accuracy</a:t>
            </a:r>
            <a:endParaRPr/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Improve sentence encoding for subtle or mixed sentiment</a:t>
            </a:r>
            <a:endParaRPr/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Optimize performance for larger datasets and faster search</a:t>
            </a:r>
            <a:endParaRPr/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Save processed embeddings and models for faster reuse</a:t>
            </a:r>
            <a:endParaRPr/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Expand the prototype into a more complete user-facing application</a:t>
            </a:r>
            <a:endParaRPr/>
          </a:p>
          <a:p>
            <a:pPr indent="0" lvl="0" marL="0" rtl="0" algn="l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offset_comp_342327_edited.jpg" id="289" name="Google Shape;289;p23"/>
          <p:cNvPicPr preferRelativeResize="0"/>
          <p:nvPr/>
        </p:nvPicPr>
        <p:blipFill rotWithShape="1">
          <a:blip r:embed="rId3">
            <a:alphaModFix/>
          </a:blip>
          <a:srcRect b="9439" l="38930" r="9677" t="56777"/>
          <a:stretch/>
        </p:blipFill>
        <p:spPr>
          <a:xfrm>
            <a:off x="2886903" y="1329319"/>
            <a:ext cx="3355200" cy="191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3"/>
          <p:cNvSpPr/>
          <p:nvPr/>
        </p:nvSpPr>
        <p:spPr>
          <a:xfrm flipH="1">
            <a:off x="2886886" y="1330368"/>
            <a:ext cx="3355200" cy="1909800"/>
          </a:xfrm>
          <a:prstGeom prst="rtTriangle">
            <a:avLst/>
          </a:prstGeom>
          <a:solidFill>
            <a:srgbClr val="000000">
              <a:alpha val="4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3"/>
          <p:cNvSpPr txBox="1"/>
          <p:nvPr>
            <p:ph idx="1" type="body"/>
          </p:nvPr>
        </p:nvSpPr>
        <p:spPr>
          <a:xfrm>
            <a:off x="372775" y="1535525"/>
            <a:ext cx="2304900" cy="21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2F2F2"/>
                </a:solidFill>
              </a:rPr>
              <a:t>Conclusion</a:t>
            </a:r>
            <a:endParaRPr>
              <a:solidFill>
                <a:srgbClr val="F2F2F2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2F2F2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lt1"/>
                </a:solidFill>
              </a:rPr>
              <a:t>Built a proof-of-concept semantic search system for TripAdvisor hotel reviews.</a:t>
            </a:r>
            <a:endParaRPr sz="10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lt1"/>
                </a:solidFill>
              </a:rPr>
              <a:t>Combined Sentence-BERT embeddings with a deep learning sentiment classifier.</a:t>
            </a:r>
            <a:endParaRPr sz="10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lt1"/>
                </a:solidFill>
              </a:rPr>
              <a:t>Returned relevant review matches and useful sentiment-based results.</a:t>
            </a:r>
            <a:endParaRPr sz="10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lt1"/>
                </a:solidFill>
              </a:rPr>
              <a:t>Achieved baseline test accuracy of about 82.6%</a:t>
            </a:r>
            <a:endParaRPr sz="10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>
            <p:ph type="title"/>
          </p:nvPr>
        </p:nvSpPr>
        <p:spPr>
          <a:xfrm>
            <a:off x="645300" y="1833775"/>
            <a:ext cx="3063300" cy="6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you!</a:t>
            </a:r>
            <a:endParaRPr/>
          </a:p>
        </p:txBody>
      </p:sp>
      <p:grpSp>
        <p:nvGrpSpPr>
          <p:cNvPr id="297" name="Google Shape;297;p24"/>
          <p:cNvGrpSpPr/>
          <p:nvPr/>
        </p:nvGrpSpPr>
        <p:grpSpPr>
          <a:xfrm>
            <a:off x="4066820" y="1553491"/>
            <a:ext cx="3159984" cy="2439109"/>
            <a:chOff x="3553042" y="1657806"/>
            <a:chExt cx="3461100" cy="2671532"/>
          </a:xfrm>
        </p:grpSpPr>
        <p:sp>
          <p:nvSpPr>
            <p:cNvPr id="298" name="Google Shape;298;p24"/>
            <p:cNvSpPr/>
            <p:nvPr/>
          </p:nvSpPr>
          <p:spPr>
            <a:xfrm>
              <a:off x="4856024" y="3625653"/>
              <a:ext cx="944700" cy="663300"/>
            </a:xfrm>
            <a:prstGeom prst="trapezoid">
              <a:avLst>
                <a:gd fmla="val 25000" name="adj"/>
              </a:avLst>
            </a:prstGeom>
            <a:solidFill>
              <a:srgbClr val="E7E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4"/>
            <p:cNvSpPr/>
            <p:nvPr/>
          </p:nvSpPr>
          <p:spPr>
            <a:xfrm rot="10800000">
              <a:off x="4953871" y="3681997"/>
              <a:ext cx="400200" cy="606600"/>
            </a:xfrm>
            <a:prstGeom prst="triangle">
              <a:avLst>
                <a:gd fmla="val 96745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4767796" y="3681816"/>
              <a:ext cx="163500" cy="606600"/>
            </a:xfrm>
            <a:prstGeom prst="triangle">
              <a:avLst>
                <a:gd fmla="val 98558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4"/>
            <p:cNvSpPr/>
            <p:nvPr/>
          </p:nvSpPr>
          <p:spPr>
            <a:xfrm rot="10800000">
              <a:off x="4678237" y="4276102"/>
              <a:ext cx="1210800" cy="456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4"/>
            <p:cNvSpPr/>
            <p:nvPr/>
          </p:nvSpPr>
          <p:spPr>
            <a:xfrm rot="10800000">
              <a:off x="4668343" y="4283738"/>
              <a:ext cx="1230600" cy="45600"/>
            </a:xfrm>
            <a:prstGeom prst="roundRect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4"/>
            <p:cNvSpPr/>
            <p:nvPr/>
          </p:nvSpPr>
          <p:spPr>
            <a:xfrm>
              <a:off x="4926950" y="3681915"/>
              <a:ext cx="42900" cy="5943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3553042" y="1674645"/>
              <a:ext cx="3461100" cy="2014500"/>
            </a:xfrm>
            <a:prstGeom prst="roundRect">
              <a:avLst>
                <a:gd fmla="val 1882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3553042" y="1657806"/>
              <a:ext cx="3461100" cy="2014500"/>
            </a:xfrm>
            <a:prstGeom prst="roundRect">
              <a:avLst>
                <a:gd fmla="val 1764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06" name="Google Shape;306;p24" title="Beach_at_Fort_Lauderdale.jpg"/>
          <p:cNvPicPr preferRelativeResize="0"/>
          <p:nvPr/>
        </p:nvPicPr>
        <p:blipFill rotWithShape="1">
          <a:blip r:embed="rId3">
            <a:alphaModFix/>
          </a:blip>
          <a:srcRect b="7280" l="0" r="0" t="7280"/>
          <a:stretch/>
        </p:blipFill>
        <p:spPr>
          <a:xfrm>
            <a:off x="4115130" y="1605638"/>
            <a:ext cx="3063300" cy="174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4"/>
          <p:cNvSpPr/>
          <p:nvPr/>
        </p:nvSpPr>
        <p:spPr>
          <a:xfrm flipH="1">
            <a:off x="4114917" y="1606596"/>
            <a:ext cx="3063300" cy="1743300"/>
          </a:xfrm>
          <a:prstGeom prst="rtTriangle">
            <a:avLst/>
          </a:prstGeom>
          <a:solidFill>
            <a:srgbClr val="000000">
              <a:alpha val="4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8" name="Google Shape;308;p24"/>
          <p:cNvGrpSpPr/>
          <p:nvPr/>
        </p:nvGrpSpPr>
        <p:grpSpPr>
          <a:xfrm>
            <a:off x="6762480" y="2546254"/>
            <a:ext cx="1024386" cy="1522884"/>
            <a:chOff x="6505573" y="2745170"/>
            <a:chExt cx="1122000" cy="1668000"/>
          </a:xfrm>
        </p:grpSpPr>
        <p:sp>
          <p:nvSpPr>
            <p:cNvPr id="309" name="Google Shape;309;p24"/>
            <p:cNvSpPr/>
            <p:nvPr/>
          </p:nvSpPr>
          <p:spPr>
            <a:xfrm>
              <a:off x="6517841" y="2745170"/>
              <a:ext cx="1109700" cy="1668000"/>
            </a:xfrm>
            <a:prstGeom prst="roundRect">
              <a:avLst>
                <a:gd fmla="val 5402" name="adj"/>
              </a:avLst>
            </a:prstGeom>
            <a:solidFill>
              <a:srgbClr val="1B212C"/>
            </a:solidFill>
            <a:ln>
              <a:noFill/>
            </a:ln>
            <a:effectLst>
              <a:outerShdw blurRad="387350" sx="107000" rotWithShape="0" algn="tr" dir="8100000" dist="38100" sy="107000">
                <a:srgbClr val="000000">
                  <a:alpha val="498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4"/>
            <p:cNvSpPr/>
            <p:nvPr/>
          </p:nvSpPr>
          <p:spPr>
            <a:xfrm rot="-5400000">
              <a:off x="6238873" y="3024453"/>
              <a:ext cx="1655400" cy="1122000"/>
            </a:xfrm>
            <a:prstGeom prst="roundRect">
              <a:avLst>
                <a:gd fmla="val 4551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4"/>
            <p:cNvSpPr/>
            <p:nvPr/>
          </p:nvSpPr>
          <p:spPr>
            <a:xfrm rot="-5400000">
              <a:off x="6238873" y="3012061"/>
              <a:ext cx="1655400" cy="1122000"/>
            </a:xfrm>
            <a:prstGeom prst="roundRect">
              <a:avLst>
                <a:gd fmla="val 4551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6954127" y="4329594"/>
              <a:ext cx="224700" cy="31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13" name="Google Shape;313;p24" title="Beach_at_Fort_Lauderdale.jpg"/>
          <p:cNvPicPr preferRelativeResize="0"/>
          <p:nvPr/>
        </p:nvPicPr>
        <p:blipFill rotWithShape="1">
          <a:blip r:embed="rId3">
            <a:alphaModFix/>
          </a:blip>
          <a:srcRect b="0" l="24380" r="24380" t="0"/>
          <a:stretch/>
        </p:blipFill>
        <p:spPr>
          <a:xfrm>
            <a:off x="6762097" y="2613771"/>
            <a:ext cx="1024200" cy="13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4"/>
          <p:cNvSpPr/>
          <p:nvPr/>
        </p:nvSpPr>
        <p:spPr>
          <a:xfrm flipH="1">
            <a:off x="6762011" y="2613990"/>
            <a:ext cx="1024200" cy="1333200"/>
          </a:xfrm>
          <a:prstGeom prst="rtTriangle">
            <a:avLst/>
          </a:prstGeom>
          <a:solidFill>
            <a:srgbClr val="000000">
              <a:alpha val="4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5" name="Google Shape;315;p24"/>
          <p:cNvGrpSpPr/>
          <p:nvPr/>
        </p:nvGrpSpPr>
        <p:grpSpPr>
          <a:xfrm>
            <a:off x="6405845" y="3121897"/>
            <a:ext cx="520684" cy="1036470"/>
            <a:chOff x="9543736" y="4486132"/>
            <a:chExt cx="570300" cy="1135235"/>
          </a:xfrm>
        </p:grpSpPr>
        <p:sp>
          <p:nvSpPr>
            <p:cNvPr id="316" name="Google Shape;316;p24"/>
            <p:cNvSpPr/>
            <p:nvPr/>
          </p:nvSpPr>
          <p:spPr>
            <a:xfrm>
              <a:off x="9543736" y="4487212"/>
              <a:ext cx="570300" cy="1132800"/>
            </a:xfrm>
            <a:prstGeom prst="roundRect">
              <a:avLst>
                <a:gd fmla="val 5402" name="adj"/>
              </a:avLst>
            </a:prstGeom>
            <a:solidFill>
              <a:srgbClr val="1B212C"/>
            </a:solidFill>
            <a:ln>
              <a:noFill/>
            </a:ln>
            <a:effectLst>
              <a:outerShdw blurRad="387350" sx="107000" rotWithShape="0" algn="tr" dir="8100000" dist="38100" sy="107000">
                <a:srgbClr val="000000">
                  <a:alpha val="498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4"/>
            <p:cNvSpPr/>
            <p:nvPr/>
          </p:nvSpPr>
          <p:spPr>
            <a:xfrm rot="-5400000">
              <a:off x="9265568" y="4772968"/>
              <a:ext cx="1126800" cy="570000"/>
            </a:xfrm>
            <a:prstGeom prst="roundRect">
              <a:avLst>
                <a:gd fmla="val 4551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4"/>
            <p:cNvSpPr/>
            <p:nvPr/>
          </p:nvSpPr>
          <p:spPr>
            <a:xfrm rot="-5400000">
              <a:off x="9265568" y="4764532"/>
              <a:ext cx="1126800" cy="570000"/>
            </a:xfrm>
            <a:prstGeom prst="roundRect">
              <a:avLst>
                <a:gd fmla="val 4551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4"/>
            <p:cNvSpPr/>
            <p:nvPr/>
          </p:nvSpPr>
          <p:spPr>
            <a:xfrm>
              <a:off x="9736876" y="5519757"/>
              <a:ext cx="186300" cy="303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20" name="Google Shape;320;p24" title="Beach_at_Fort_Lauderdale.jpg"/>
          <p:cNvPicPr preferRelativeResize="0"/>
          <p:nvPr/>
        </p:nvPicPr>
        <p:blipFill rotWithShape="1">
          <a:blip r:embed="rId3">
            <a:alphaModFix/>
          </a:blip>
          <a:srcRect b="0" l="30472" r="30472" t="0"/>
          <a:stretch/>
        </p:blipFill>
        <p:spPr>
          <a:xfrm>
            <a:off x="6405412" y="3121559"/>
            <a:ext cx="520500" cy="888900"/>
          </a:xfrm>
          <a:prstGeom prst="round2SameRect">
            <a:avLst>
              <a:gd fmla="val 4129" name="adj1"/>
              <a:gd fmla="val 0" name="adj2"/>
            </a:avLst>
          </a:prstGeom>
          <a:noFill/>
          <a:ln>
            <a:noFill/>
          </a:ln>
        </p:spPr>
      </p:pic>
      <p:sp>
        <p:nvSpPr>
          <p:cNvPr id="321" name="Google Shape;321;p24"/>
          <p:cNvSpPr/>
          <p:nvPr/>
        </p:nvSpPr>
        <p:spPr>
          <a:xfrm flipH="1">
            <a:off x="6405284" y="3142709"/>
            <a:ext cx="520500" cy="867900"/>
          </a:xfrm>
          <a:prstGeom prst="rtTriangle">
            <a:avLst/>
          </a:prstGeom>
          <a:solidFill>
            <a:srgbClr val="000000">
              <a:alpha val="4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2" name="Google Shape;322;p24"/>
          <p:cNvGrpSpPr/>
          <p:nvPr/>
        </p:nvGrpSpPr>
        <p:grpSpPr>
          <a:xfrm>
            <a:off x="7564804" y="3443361"/>
            <a:ext cx="455496" cy="692277"/>
            <a:chOff x="7384375" y="3728000"/>
            <a:chExt cx="498900" cy="758244"/>
          </a:xfrm>
        </p:grpSpPr>
        <p:sp>
          <p:nvSpPr>
            <p:cNvPr id="323" name="Google Shape;323;p24"/>
            <p:cNvSpPr/>
            <p:nvPr/>
          </p:nvSpPr>
          <p:spPr>
            <a:xfrm rot="10800000">
              <a:off x="7475552" y="4233644"/>
              <a:ext cx="316500" cy="2526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E7E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4"/>
            <p:cNvSpPr/>
            <p:nvPr/>
          </p:nvSpPr>
          <p:spPr>
            <a:xfrm rot="5400000">
              <a:off x="7506587" y="4276887"/>
              <a:ext cx="140700" cy="201900"/>
            </a:xfrm>
            <a:prstGeom prst="triangle">
              <a:avLst>
                <a:gd fmla="val 27359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4"/>
            <p:cNvSpPr/>
            <p:nvPr/>
          </p:nvSpPr>
          <p:spPr>
            <a:xfrm>
              <a:off x="7475548" y="3728000"/>
              <a:ext cx="316500" cy="2526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E7E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4"/>
            <p:cNvSpPr/>
            <p:nvPr/>
          </p:nvSpPr>
          <p:spPr>
            <a:xfrm>
              <a:off x="7384375" y="3860325"/>
              <a:ext cx="498900" cy="498900"/>
            </a:xfrm>
            <a:prstGeom prst="ellipse">
              <a:avLst/>
            </a:prstGeom>
            <a:solidFill>
              <a:srgbClr val="1B212C"/>
            </a:solidFill>
            <a:ln>
              <a:noFill/>
            </a:ln>
            <a:effectLst>
              <a:outerShdw blurRad="387350" sx="107000" rotWithShape="0" algn="tr" dir="8100000" dist="38100" sy="107000">
                <a:srgbClr val="000000">
                  <a:alpha val="498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7" name="Google Shape;327;p24"/>
          <p:cNvGrpSpPr/>
          <p:nvPr/>
        </p:nvGrpSpPr>
        <p:grpSpPr>
          <a:xfrm>
            <a:off x="7564836" y="3561758"/>
            <a:ext cx="478081" cy="462776"/>
            <a:chOff x="7384385" y="3857442"/>
            <a:chExt cx="523637" cy="506874"/>
          </a:xfrm>
        </p:grpSpPr>
        <p:sp>
          <p:nvSpPr>
            <p:cNvPr id="328" name="Google Shape;328;p24"/>
            <p:cNvSpPr/>
            <p:nvPr/>
          </p:nvSpPr>
          <p:spPr>
            <a:xfrm>
              <a:off x="7384385" y="3865416"/>
              <a:ext cx="498900" cy="4989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9" name="Google Shape;329;p24"/>
            <p:cNvGrpSpPr/>
            <p:nvPr/>
          </p:nvGrpSpPr>
          <p:grpSpPr>
            <a:xfrm>
              <a:off x="7384385" y="3857442"/>
              <a:ext cx="523637" cy="498900"/>
              <a:chOff x="7384385" y="3857442"/>
              <a:chExt cx="523637" cy="498900"/>
            </a:xfrm>
          </p:grpSpPr>
          <p:sp>
            <p:nvSpPr>
              <p:cNvPr id="330" name="Google Shape;330;p24"/>
              <p:cNvSpPr/>
              <p:nvPr/>
            </p:nvSpPr>
            <p:spPr>
              <a:xfrm>
                <a:off x="7384385" y="3857442"/>
                <a:ext cx="498900" cy="4989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24"/>
              <p:cNvSpPr/>
              <p:nvPr/>
            </p:nvSpPr>
            <p:spPr>
              <a:xfrm>
                <a:off x="7856422" y="4081138"/>
                <a:ext cx="51600" cy="51600"/>
              </a:xfrm>
              <a:prstGeom prst="flowChartDelay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332" name="Google Shape;332;p24" title="Beach_at_Fort_Lauderdale.jpg"/>
          <p:cNvPicPr preferRelativeResize="0"/>
          <p:nvPr/>
        </p:nvPicPr>
        <p:blipFill rotWithShape="1">
          <a:blip r:embed="rId3">
            <a:alphaModFix/>
          </a:blip>
          <a:srcRect b="0" l="16551" r="16551" t="0"/>
          <a:stretch/>
        </p:blipFill>
        <p:spPr>
          <a:xfrm>
            <a:off x="7591905" y="3590541"/>
            <a:ext cx="400500" cy="399300"/>
          </a:xfrm>
          <a:prstGeom prst="ellipse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333" name="Google Shape;333;p24"/>
          <p:cNvGrpSpPr/>
          <p:nvPr/>
        </p:nvGrpSpPr>
        <p:grpSpPr>
          <a:xfrm>
            <a:off x="8110843" y="3443361"/>
            <a:ext cx="435785" cy="692277"/>
            <a:chOff x="7982421" y="3727763"/>
            <a:chExt cx="477311" cy="758244"/>
          </a:xfrm>
        </p:grpSpPr>
        <p:sp>
          <p:nvSpPr>
            <p:cNvPr id="334" name="Google Shape;334;p24"/>
            <p:cNvSpPr/>
            <p:nvPr/>
          </p:nvSpPr>
          <p:spPr>
            <a:xfrm>
              <a:off x="8054507" y="3728825"/>
              <a:ext cx="316500" cy="756600"/>
            </a:xfrm>
            <a:prstGeom prst="roundRect">
              <a:avLst>
                <a:gd fmla="val 15418" name="adj"/>
              </a:avLst>
            </a:prstGeom>
            <a:solidFill>
              <a:srgbClr val="1B212C"/>
            </a:solidFill>
            <a:ln>
              <a:noFill/>
            </a:ln>
            <a:effectLst>
              <a:outerShdw blurRad="387350" sx="107000" rotWithShape="0" algn="tr" dir="8100000" dist="38100" sy="107000">
                <a:srgbClr val="000000">
                  <a:alpha val="498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4"/>
            <p:cNvSpPr/>
            <p:nvPr/>
          </p:nvSpPr>
          <p:spPr>
            <a:xfrm rot="10800000">
              <a:off x="8054264" y="4233407"/>
              <a:ext cx="316500" cy="2526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E7E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4"/>
            <p:cNvSpPr/>
            <p:nvPr/>
          </p:nvSpPr>
          <p:spPr>
            <a:xfrm rot="5400000">
              <a:off x="8085300" y="4276650"/>
              <a:ext cx="140700" cy="201900"/>
            </a:xfrm>
            <a:prstGeom prst="triangle">
              <a:avLst>
                <a:gd fmla="val 27359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4"/>
            <p:cNvSpPr/>
            <p:nvPr/>
          </p:nvSpPr>
          <p:spPr>
            <a:xfrm>
              <a:off x="8054261" y="3727763"/>
              <a:ext cx="316500" cy="2526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E7E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4"/>
            <p:cNvSpPr/>
            <p:nvPr/>
          </p:nvSpPr>
          <p:spPr>
            <a:xfrm>
              <a:off x="7991115" y="3866003"/>
              <a:ext cx="434400" cy="486900"/>
            </a:xfrm>
            <a:prstGeom prst="roundRect">
              <a:avLst>
                <a:gd fmla="val 12273" name="adj"/>
              </a:avLst>
            </a:prstGeom>
            <a:solidFill>
              <a:srgbClr val="1B212C"/>
            </a:solidFill>
            <a:ln>
              <a:noFill/>
            </a:ln>
            <a:effectLst>
              <a:outerShdw blurRad="387350" sx="107000" rotWithShape="0" algn="tr" dir="8100000" dist="38100" sy="107000">
                <a:srgbClr val="000000">
                  <a:alpha val="498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4"/>
            <p:cNvSpPr/>
            <p:nvPr/>
          </p:nvSpPr>
          <p:spPr>
            <a:xfrm>
              <a:off x="7982425" y="3884047"/>
              <a:ext cx="451800" cy="499800"/>
            </a:xfrm>
            <a:prstGeom prst="roundRect">
              <a:avLst>
                <a:gd fmla="val 10240" name="adj"/>
              </a:avLst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4"/>
            <p:cNvSpPr/>
            <p:nvPr/>
          </p:nvSpPr>
          <p:spPr>
            <a:xfrm>
              <a:off x="8408132" y="4081081"/>
              <a:ext cx="51600" cy="51600"/>
            </a:xfrm>
            <a:prstGeom prst="flowChartDelay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4"/>
            <p:cNvSpPr/>
            <p:nvPr/>
          </p:nvSpPr>
          <p:spPr>
            <a:xfrm>
              <a:off x="7982421" y="3863888"/>
              <a:ext cx="451800" cy="513900"/>
            </a:xfrm>
            <a:prstGeom prst="roundRect">
              <a:avLst>
                <a:gd fmla="val 1024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42" name="Google Shape;342;p24" title="Beach_at_Fort_Lauderdale.jpg"/>
          <p:cNvPicPr preferRelativeResize="0"/>
          <p:nvPr/>
        </p:nvPicPr>
        <p:blipFill rotWithShape="1">
          <a:blip r:embed="rId3">
            <a:alphaModFix/>
          </a:blip>
          <a:srcRect b="0" l="20586" r="20580" t="0"/>
          <a:stretch/>
        </p:blipFill>
        <p:spPr>
          <a:xfrm>
            <a:off x="8127235" y="3586562"/>
            <a:ext cx="379200" cy="429900"/>
          </a:xfrm>
          <a:prstGeom prst="roundRect">
            <a:avLst>
              <a:gd fmla="val 7794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5"/>
          <p:cNvSpPr txBox="1"/>
          <p:nvPr>
            <p:ph type="title"/>
          </p:nvPr>
        </p:nvSpPr>
        <p:spPr>
          <a:xfrm>
            <a:off x="1297500" y="393750"/>
            <a:ext cx="3798900" cy="5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</a:t>
            </a:r>
            <a:endParaRPr/>
          </a:p>
        </p:txBody>
      </p:sp>
      <p:sp>
        <p:nvSpPr>
          <p:cNvPr id="348" name="Google Shape;348;p25"/>
          <p:cNvSpPr txBox="1"/>
          <p:nvPr>
            <p:ph idx="1" type="body"/>
          </p:nvPr>
        </p:nvSpPr>
        <p:spPr>
          <a:xfrm>
            <a:off x="1281150" y="1129525"/>
            <a:ext cx="6581700" cy="32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https://www.kaggle.com/competitions/traveler-insights-utb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4"/>
              </a:rPr>
              <a:t>https://www.kaggle.com/datasets/thedevastator/tripadvisor-hotel-reviews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5"/>
              </a:rPr>
              <a:t>https://huggingface.co/datasets/argilla/tripadvisor-hotel-reviews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6"/>
              </a:rPr>
              <a:t>https://www.kaggle.com/datasets/jkgatt/restaurant-data-with-100-trip-advisor-reviews-each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