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66" r:id="rId5"/>
    <p:sldId id="309" r:id="rId6"/>
    <p:sldId id="324" r:id="rId7"/>
    <p:sldId id="322" r:id="rId8"/>
    <p:sldId id="323" r:id="rId9"/>
    <p:sldId id="319" r:id="rId10"/>
    <p:sldId id="320" r:id="rId11"/>
    <p:sldId id="318" r:id="rId12"/>
    <p:sldId id="317" r:id="rId13"/>
    <p:sldId id="32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  <a:srgbClr val="8FC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3" autoAdjust="0"/>
    <p:restoredTop sz="94619" autoAdjust="0"/>
  </p:normalViewPr>
  <p:slideViewPr>
    <p:cSldViewPr snapToGrid="0">
      <p:cViewPr varScale="1">
        <p:scale>
          <a:sx n="69" d="100"/>
          <a:sy n="69" d="100"/>
        </p:scale>
        <p:origin x="41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7293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8980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2331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7611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2808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771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701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1302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826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6014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6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orrester.com/bold/" TargetMode="External"/><Relationship Id="rId2" Type="http://schemas.openxmlformats.org/officeDocument/2006/relationships/hyperlink" Target="https://www.gartner.com/en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www.gartner.com/reviews/market/application-portfolio-management-tools" TargetMode="External"/><Relationship Id="rId5" Type="http://schemas.openxmlformats.org/officeDocument/2006/relationships/hyperlink" Target="https://en.wikipedia.org/wiki/Application_portfolio_management" TargetMode="External"/><Relationship Id="rId4" Type="http://schemas.openxmlformats.org/officeDocument/2006/relationships/hyperlink" Target="https://learn.microsoft.com/en-us/azure/app-modernization-guidance/plan/the-6-rs-of-application-modernization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F452A527-3631-41ED-858D-3777A7D14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peak Pro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30000" y="639097"/>
            <a:ext cx="4813072" cy="3494791"/>
          </a:xfrm>
        </p:spPr>
        <p:txBody>
          <a:bodyPr>
            <a:normAutofit/>
          </a:bodyPr>
          <a:lstStyle/>
          <a:p>
            <a:r>
              <a:rPr lang="en-US" sz="4000" cap="all" spc="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Using an Intelligent Agent To Assist with Application Portfolio Management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29999" y="4455621"/>
            <a:ext cx="4829101" cy="1238616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Intelligent Agents – 3547</a:t>
            </a:r>
          </a:p>
          <a:p>
            <a:r>
              <a:rPr lang="en-US" dirty="0"/>
              <a:t>Term Project</a:t>
            </a:r>
          </a:p>
          <a:p>
            <a:r>
              <a:rPr lang="en-US" dirty="0"/>
              <a:t>Cameron Turner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40CBE3-3F91-419A-A649-32AB388EC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10"/>
            <a:ext cx="6096000" cy="6857990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28A9C89-B313-458F-9C85-515930A51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805053" y="4294754"/>
            <a:ext cx="43891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5915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E8CAD-2D7C-D628-BDC0-4D3D966B8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FB21F-D3D2-4732-FC84-667D3B55D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  <a:latin typeface="+mn-lt"/>
              </a:rPr>
              <a:t>Application Portfolio Management (APM)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DE4E256-21FF-AC8D-0720-77978CF29C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Application Portfolio Management is the work undertaken by an organization to manage the evolution of its software application inventory.  </a:t>
            </a:r>
          </a:p>
          <a:p>
            <a:r>
              <a:rPr lang="en-CA" dirty="0"/>
              <a:t>An organization’s inventory typically includes applications in the following domains: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CA" sz="2000" dirty="0"/>
              <a:t>Custom developed business applications (e.g., </a:t>
            </a:r>
            <a:r>
              <a:rPr lang="en-CA" sz="2000" dirty="0" err="1"/>
              <a:t>.Net</a:t>
            </a:r>
            <a:r>
              <a:rPr lang="en-CA" sz="2000" dirty="0"/>
              <a:t>, Java, Python, web, client-server)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CA" sz="2000" dirty="0"/>
              <a:t>Commercial Off-the-Shelf (COTS) applications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CA" sz="2000" dirty="0"/>
              <a:t>3</a:t>
            </a:r>
            <a:r>
              <a:rPr lang="en-CA" sz="2000" baseline="30000" dirty="0"/>
              <a:t>rd</a:t>
            </a:r>
            <a:r>
              <a:rPr lang="en-CA" sz="2000" dirty="0"/>
              <a:t> party managed Software-as-a-Service (SaaS) and cloud applications</a:t>
            </a:r>
          </a:p>
          <a:p>
            <a:r>
              <a:rPr lang="en-CA" dirty="0"/>
              <a:t>APM can benefit organizations in the areas of investment planning, strategic direction, streamlining costs, understanding operations and developing enterprise architecture.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715919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53B9E-BF69-79B5-D704-57C6F4334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B21BA-83A8-F03A-904B-081936081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  <a:latin typeface="+mn-lt"/>
              </a:rPr>
              <a:t>The problem…</a:t>
            </a:r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E729C3A2-EE23-D02C-A77E-8D16C2850F48}"/>
              </a:ext>
            </a:extLst>
          </p:cNvPr>
          <p:cNvGrpSpPr/>
          <p:nvPr/>
        </p:nvGrpSpPr>
        <p:grpSpPr>
          <a:xfrm>
            <a:off x="442354" y="2378085"/>
            <a:ext cx="3591529" cy="3348139"/>
            <a:chOff x="721129" y="2063125"/>
            <a:chExt cx="3591529" cy="3348139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69C885F-25C7-1C13-F657-FA3749E666FA}"/>
                </a:ext>
              </a:extLst>
            </p:cNvPr>
            <p:cNvSpPr/>
            <p:nvPr/>
          </p:nvSpPr>
          <p:spPr>
            <a:xfrm>
              <a:off x="731701" y="3246668"/>
              <a:ext cx="1684686" cy="100347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C20933D-F970-8C5A-A01B-741D6BB3787A}"/>
                </a:ext>
              </a:extLst>
            </p:cNvPr>
            <p:cNvSpPr/>
            <p:nvPr/>
          </p:nvSpPr>
          <p:spPr>
            <a:xfrm>
              <a:off x="731701" y="4407794"/>
              <a:ext cx="1684686" cy="100347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EB52E5C-1985-CF4F-791D-4DC24673FB7B}"/>
                </a:ext>
              </a:extLst>
            </p:cNvPr>
            <p:cNvSpPr/>
            <p:nvPr/>
          </p:nvSpPr>
          <p:spPr>
            <a:xfrm>
              <a:off x="2627972" y="3246668"/>
              <a:ext cx="1684686" cy="100347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4A1AC8C-3D46-49F5-29BC-B1982F198BA4}"/>
                </a:ext>
              </a:extLst>
            </p:cNvPr>
            <p:cNvSpPr/>
            <p:nvPr/>
          </p:nvSpPr>
          <p:spPr>
            <a:xfrm>
              <a:off x="2627972" y="4407794"/>
              <a:ext cx="1684686" cy="100347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0B66C54-B104-6FB6-6079-22AFE5E31234}"/>
                </a:ext>
              </a:extLst>
            </p:cNvPr>
            <p:cNvSpPr/>
            <p:nvPr/>
          </p:nvSpPr>
          <p:spPr>
            <a:xfrm>
              <a:off x="2627972" y="2074267"/>
              <a:ext cx="1684686" cy="100347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BEE24A4-80A0-E5A9-B953-6E48CE5522F0}"/>
                </a:ext>
              </a:extLst>
            </p:cNvPr>
            <p:cNvSpPr/>
            <p:nvPr/>
          </p:nvSpPr>
          <p:spPr>
            <a:xfrm>
              <a:off x="731701" y="2074267"/>
              <a:ext cx="1684686" cy="100347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816C311-74FB-F896-429E-CB1C90DE1B92}"/>
                </a:ext>
              </a:extLst>
            </p:cNvPr>
            <p:cNvSpPr txBox="1"/>
            <p:nvPr/>
          </p:nvSpPr>
          <p:spPr>
            <a:xfrm flipH="1">
              <a:off x="730845" y="2063125"/>
              <a:ext cx="722237" cy="3392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600" b="1" dirty="0">
                  <a:solidFill>
                    <a:srgbClr val="0070C0"/>
                  </a:solidFill>
                </a:rPr>
                <a:t>Sales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6FCEE1D-2A48-A070-A417-8EBE906F76EF}"/>
                </a:ext>
              </a:extLst>
            </p:cNvPr>
            <p:cNvSpPr txBox="1"/>
            <p:nvPr/>
          </p:nvSpPr>
          <p:spPr>
            <a:xfrm flipH="1">
              <a:off x="2627972" y="2065637"/>
              <a:ext cx="1164300" cy="3392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600" b="1" dirty="0">
                  <a:solidFill>
                    <a:srgbClr val="0070C0"/>
                  </a:solidFill>
                </a:rPr>
                <a:t>Marketing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8F90F86-D63C-BF98-1E9D-F765DEB633A3}"/>
                </a:ext>
              </a:extLst>
            </p:cNvPr>
            <p:cNvSpPr txBox="1"/>
            <p:nvPr/>
          </p:nvSpPr>
          <p:spPr>
            <a:xfrm flipH="1">
              <a:off x="721129" y="3234275"/>
              <a:ext cx="1164300" cy="3392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600" b="1" dirty="0">
                  <a:solidFill>
                    <a:srgbClr val="0070C0"/>
                  </a:solidFill>
                </a:rPr>
                <a:t>Operations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634781F-BC78-0885-DEA2-B456B12A4D32}"/>
                </a:ext>
              </a:extLst>
            </p:cNvPr>
            <p:cNvSpPr txBox="1"/>
            <p:nvPr/>
          </p:nvSpPr>
          <p:spPr>
            <a:xfrm flipH="1">
              <a:off x="745424" y="4407794"/>
              <a:ext cx="1164300" cy="3392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600" b="1" dirty="0">
                  <a:solidFill>
                    <a:srgbClr val="0070C0"/>
                  </a:solidFill>
                </a:rPr>
                <a:t>HR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D9D13A2-96CD-C21B-5B87-38FF00968275}"/>
                </a:ext>
              </a:extLst>
            </p:cNvPr>
            <p:cNvSpPr txBox="1"/>
            <p:nvPr/>
          </p:nvSpPr>
          <p:spPr>
            <a:xfrm flipH="1">
              <a:off x="2627972" y="3255481"/>
              <a:ext cx="1164300" cy="3392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600" b="1" dirty="0">
                  <a:solidFill>
                    <a:srgbClr val="0070C0"/>
                  </a:solidFill>
                </a:rPr>
                <a:t>Finance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A864628-F6CD-8C2D-112D-E9B511D5E9BD}"/>
                </a:ext>
              </a:extLst>
            </p:cNvPr>
            <p:cNvSpPr txBox="1"/>
            <p:nvPr/>
          </p:nvSpPr>
          <p:spPr>
            <a:xfrm flipH="1">
              <a:off x="2606234" y="4395885"/>
              <a:ext cx="126094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600" b="1" dirty="0">
                  <a:solidFill>
                    <a:srgbClr val="0070C0"/>
                  </a:solidFill>
                </a:rPr>
                <a:t>Engineering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3C36A1D9-FB09-8424-15F2-E3DCC113A5B4}"/>
                </a:ext>
              </a:extLst>
            </p:cNvPr>
            <p:cNvSpPr/>
            <p:nvPr/>
          </p:nvSpPr>
          <p:spPr>
            <a:xfrm>
              <a:off x="991602" y="2393259"/>
              <a:ext cx="200722" cy="218149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tint val="66000"/>
                    <a:satMod val="160000"/>
                  </a:schemeClr>
                </a:gs>
                <a:gs pos="50000">
                  <a:schemeClr val="accent5">
                    <a:tint val="44500"/>
                    <a:satMod val="160000"/>
                  </a:schemeClr>
                </a:gs>
                <a:gs pos="100000">
                  <a:schemeClr val="accent5">
                    <a:tint val="23500"/>
                    <a:satMod val="160000"/>
                  </a:schemeClr>
                </a:gs>
              </a:gsLst>
              <a:lin ang="270000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73A9A07-C3F4-B396-3194-BA756D542C99}"/>
                </a:ext>
              </a:extLst>
            </p:cNvPr>
            <p:cNvSpPr/>
            <p:nvPr/>
          </p:nvSpPr>
          <p:spPr>
            <a:xfrm>
              <a:off x="1293300" y="2627476"/>
              <a:ext cx="200722" cy="218149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tint val="66000"/>
                    <a:satMod val="160000"/>
                  </a:schemeClr>
                </a:gs>
                <a:gs pos="50000">
                  <a:schemeClr val="accent5">
                    <a:tint val="44500"/>
                    <a:satMod val="160000"/>
                  </a:schemeClr>
                </a:gs>
                <a:gs pos="100000">
                  <a:schemeClr val="accent5">
                    <a:tint val="23500"/>
                    <a:satMod val="160000"/>
                  </a:schemeClr>
                </a:gs>
              </a:gsLst>
              <a:lin ang="270000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C1975C47-982D-0C19-031B-754E9CC38AFC}"/>
                </a:ext>
              </a:extLst>
            </p:cNvPr>
            <p:cNvSpPr/>
            <p:nvPr/>
          </p:nvSpPr>
          <p:spPr>
            <a:xfrm>
              <a:off x="1709852" y="2393259"/>
              <a:ext cx="200722" cy="218149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tint val="66000"/>
                    <a:satMod val="160000"/>
                  </a:schemeClr>
                </a:gs>
                <a:gs pos="50000">
                  <a:schemeClr val="accent5">
                    <a:tint val="44500"/>
                    <a:satMod val="160000"/>
                  </a:schemeClr>
                </a:gs>
                <a:gs pos="100000">
                  <a:schemeClr val="accent5">
                    <a:tint val="23500"/>
                    <a:satMod val="160000"/>
                  </a:schemeClr>
                </a:gs>
              </a:gsLst>
              <a:lin ang="270000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BE4C8AEC-2110-EB40-4F14-FD2FF2DE0D03}"/>
                </a:ext>
              </a:extLst>
            </p:cNvPr>
            <p:cNvSpPr/>
            <p:nvPr/>
          </p:nvSpPr>
          <p:spPr>
            <a:xfrm>
              <a:off x="3035984" y="2459198"/>
              <a:ext cx="200722" cy="218149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tint val="66000"/>
                    <a:satMod val="160000"/>
                  </a:schemeClr>
                </a:gs>
                <a:gs pos="50000">
                  <a:schemeClr val="accent5">
                    <a:tint val="44500"/>
                    <a:satMod val="160000"/>
                  </a:schemeClr>
                </a:gs>
                <a:gs pos="100000">
                  <a:schemeClr val="accent5">
                    <a:tint val="23500"/>
                    <a:satMod val="160000"/>
                  </a:schemeClr>
                </a:gs>
              </a:gsLst>
              <a:lin ang="270000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6E24979A-CAF6-BBD3-C879-62ED7C4B2A60}"/>
                </a:ext>
              </a:extLst>
            </p:cNvPr>
            <p:cNvSpPr/>
            <p:nvPr/>
          </p:nvSpPr>
          <p:spPr>
            <a:xfrm>
              <a:off x="3475183" y="2655045"/>
              <a:ext cx="200722" cy="218149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tint val="66000"/>
                    <a:satMod val="160000"/>
                  </a:schemeClr>
                </a:gs>
                <a:gs pos="50000">
                  <a:schemeClr val="accent5">
                    <a:tint val="44500"/>
                    <a:satMod val="160000"/>
                  </a:schemeClr>
                </a:gs>
                <a:gs pos="100000">
                  <a:schemeClr val="accent5">
                    <a:tint val="23500"/>
                    <a:satMod val="160000"/>
                  </a:schemeClr>
                </a:gs>
              </a:gsLst>
              <a:lin ang="270000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E8181D06-9241-C2E8-30C9-CD219DD3237C}"/>
                </a:ext>
              </a:extLst>
            </p:cNvPr>
            <p:cNvSpPr/>
            <p:nvPr/>
          </p:nvSpPr>
          <p:spPr>
            <a:xfrm>
              <a:off x="1155153" y="3658004"/>
              <a:ext cx="200722" cy="218149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tint val="66000"/>
                    <a:satMod val="160000"/>
                  </a:schemeClr>
                </a:gs>
                <a:gs pos="50000">
                  <a:schemeClr val="accent5">
                    <a:tint val="44500"/>
                    <a:satMod val="160000"/>
                  </a:schemeClr>
                </a:gs>
                <a:gs pos="100000">
                  <a:schemeClr val="accent5">
                    <a:tint val="23500"/>
                    <a:satMod val="160000"/>
                  </a:schemeClr>
                </a:gs>
              </a:gsLst>
              <a:lin ang="270000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19A15AB9-2AFD-9387-FA03-56E2403C1783}"/>
                </a:ext>
              </a:extLst>
            </p:cNvPr>
            <p:cNvSpPr/>
            <p:nvPr/>
          </p:nvSpPr>
          <p:spPr>
            <a:xfrm>
              <a:off x="1536876" y="3886134"/>
              <a:ext cx="200722" cy="218149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tint val="66000"/>
                    <a:satMod val="160000"/>
                  </a:schemeClr>
                </a:gs>
                <a:gs pos="50000">
                  <a:schemeClr val="accent5">
                    <a:tint val="44500"/>
                    <a:satMod val="160000"/>
                  </a:schemeClr>
                </a:gs>
                <a:gs pos="100000">
                  <a:schemeClr val="accent5">
                    <a:tint val="23500"/>
                    <a:satMod val="160000"/>
                  </a:schemeClr>
                </a:gs>
              </a:gsLst>
              <a:lin ang="270000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7B163B33-0B1A-EA74-4335-3E53598CC15B}"/>
                </a:ext>
              </a:extLst>
            </p:cNvPr>
            <p:cNvSpPr/>
            <p:nvPr/>
          </p:nvSpPr>
          <p:spPr>
            <a:xfrm>
              <a:off x="1825080" y="3556470"/>
              <a:ext cx="200722" cy="218149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tint val="66000"/>
                    <a:satMod val="160000"/>
                  </a:schemeClr>
                </a:gs>
                <a:gs pos="50000">
                  <a:schemeClr val="accent5">
                    <a:tint val="44500"/>
                    <a:satMod val="160000"/>
                  </a:schemeClr>
                </a:gs>
                <a:gs pos="100000">
                  <a:schemeClr val="accent5">
                    <a:tint val="23500"/>
                    <a:satMod val="160000"/>
                  </a:schemeClr>
                </a:gs>
              </a:gsLst>
              <a:lin ang="270000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B9AE6B6A-636B-3C06-16E1-A2D1A5B277B2}"/>
                </a:ext>
              </a:extLst>
            </p:cNvPr>
            <p:cNvSpPr/>
            <p:nvPr/>
          </p:nvSpPr>
          <p:spPr>
            <a:xfrm>
              <a:off x="3011528" y="3639328"/>
              <a:ext cx="200722" cy="218149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tint val="66000"/>
                    <a:satMod val="160000"/>
                  </a:schemeClr>
                </a:gs>
                <a:gs pos="50000">
                  <a:schemeClr val="accent5">
                    <a:tint val="44500"/>
                    <a:satMod val="160000"/>
                  </a:schemeClr>
                </a:gs>
                <a:gs pos="100000">
                  <a:schemeClr val="accent5">
                    <a:tint val="23500"/>
                    <a:satMod val="160000"/>
                  </a:schemeClr>
                </a:gs>
              </a:gsLst>
              <a:lin ang="270000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D54E802C-9755-B0EF-EA48-99A97D66F3D2}"/>
                </a:ext>
              </a:extLst>
            </p:cNvPr>
            <p:cNvSpPr/>
            <p:nvPr/>
          </p:nvSpPr>
          <p:spPr>
            <a:xfrm>
              <a:off x="3555807" y="3885289"/>
              <a:ext cx="200722" cy="218149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tint val="66000"/>
                    <a:satMod val="160000"/>
                  </a:schemeClr>
                </a:gs>
                <a:gs pos="50000">
                  <a:schemeClr val="accent5">
                    <a:tint val="44500"/>
                    <a:satMod val="160000"/>
                  </a:schemeClr>
                </a:gs>
                <a:gs pos="100000">
                  <a:schemeClr val="accent5">
                    <a:tint val="23500"/>
                    <a:satMod val="160000"/>
                  </a:schemeClr>
                </a:gs>
              </a:gsLst>
              <a:lin ang="270000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42708B10-D6D2-50BE-581C-97961D25BE20}"/>
                </a:ext>
              </a:extLst>
            </p:cNvPr>
            <p:cNvSpPr/>
            <p:nvPr/>
          </p:nvSpPr>
          <p:spPr>
            <a:xfrm>
              <a:off x="1018906" y="4686564"/>
              <a:ext cx="200722" cy="218149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tint val="66000"/>
                    <a:satMod val="160000"/>
                  </a:schemeClr>
                </a:gs>
                <a:gs pos="50000">
                  <a:schemeClr val="accent5">
                    <a:tint val="44500"/>
                    <a:satMod val="160000"/>
                  </a:schemeClr>
                </a:gs>
                <a:gs pos="100000">
                  <a:schemeClr val="accent5">
                    <a:tint val="23500"/>
                    <a:satMod val="160000"/>
                  </a:schemeClr>
                </a:gs>
              </a:gsLst>
              <a:lin ang="270000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3B407293-DD55-9BD6-D3ED-FF73A72498A6}"/>
                </a:ext>
              </a:extLst>
            </p:cNvPr>
            <p:cNvSpPr/>
            <p:nvPr/>
          </p:nvSpPr>
          <p:spPr>
            <a:xfrm>
              <a:off x="1339014" y="4970086"/>
              <a:ext cx="200722" cy="218149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tint val="66000"/>
                    <a:satMod val="160000"/>
                  </a:schemeClr>
                </a:gs>
                <a:gs pos="50000">
                  <a:schemeClr val="accent5">
                    <a:tint val="44500"/>
                    <a:satMod val="160000"/>
                  </a:schemeClr>
                </a:gs>
                <a:gs pos="100000">
                  <a:schemeClr val="accent5">
                    <a:tint val="23500"/>
                    <a:satMod val="160000"/>
                  </a:schemeClr>
                </a:gs>
              </a:gsLst>
              <a:lin ang="270000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B15CBBC7-4BE0-A2DF-A3B5-1B21DCF9F9F4}"/>
                </a:ext>
              </a:extLst>
            </p:cNvPr>
            <p:cNvSpPr/>
            <p:nvPr/>
          </p:nvSpPr>
          <p:spPr>
            <a:xfrm>
              <a:off x="1773472" y="4686563"/>
              <a:ext cx="200722" cy="218149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tint val="66000"/>
                    <a:satMod val="160000"/>
                  </a:schemeClr>
                </a:gs>
                <a:gs pos="50000">
                  <a:schemeClr val="accent5">
                    <a:tint val="44500"/>
                    <a:satMod val="160000"/>
                  </a:schemeClr>
                </a:gs>
                <a:gs pos="100000">
                  <a:schemeClr val="accent5">
                    <a:tint val="23500"/>
                    <a:satMod val="160000"/>
                  </a:schemeClr>
                </a:gs>
              </a:gsLst>
              <a:lin ang="270000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1B519820-3BBD-9640-8D63-F0D5A6D2BD75}"/>
                </a:ext>
              </a:extLst>
            </p:cNvPr>
            <p:cNvSpPr/>
            <p:nvPr/>
          </p:nvSpPr>
          <p:spPr>
            <a:xfrm>
              <a:off x="3181816" y="4750472"/>
              <a:ext cx="200722" cy="218149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tint val="66000"/>
                    <a:satMod val="160000"/>
                  </a:schemeClr>
                </a:gs>
                <a:gs pos="50000">
                  <a:schemeClr val="accent5">
                    <a:tint val="44500"/>
                    <a:satMod val="160000"/>
                  </a:schemeClr>
                </a:gs>
                <a:gs pos="100000">
                  <a:schemeClr val="accent5">
                    <a:tint val="23500"/>
                    <a:satMod val="160000"/>
                  </a:schemeClr>
                </a:gs>
              </a:gsLst>
              <a:lin ang="270000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48803C22-9F12-553F-B1B1-A40CB9E45F20}"/>
                </a:ext>
              </a:extLst>
            </p:cNvPr>
            <p:cNvSpPr/>
            <p:nvPr/>
          </p:nvSpPr>
          <p:spPr>
            <a:xfrm>
              <a:off x="3792272" y="5033271"/>
              <a:ext cx="200722" cy="218149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tint val="66000"/>
                    <a:satMod val="160000"/>
                  </a:schemeClr>
                </a:gs>
                <a:gs pos="50000">
                  <a:schemeClr val="accent5">
                    <a:tint val="44500"/>
                    <a:satMod val="160000"/>
                  </a:schemeClr>
                </a:gs>
                <a:gs pos="100000">
                  <a:schemeClr val="accent5">
                    <a:tint val="23500"/>
                    <a:satMod val="160000"/>
                  </a:schemeClr>
                </a:gs>
              </a:gsLst>
              <a:lin ang="270000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91" name="Oval 90">
            <a:extLst>
              <a:ext uri="{FF2B5EF4-FFF2-40B4-BE49-F238E27FC236}">
                <a16:creationId xmlns:a16="http://schemas.microsoft.com/office/drawing/2014/main" id="{6B8989FF-8374-35C7-8B37-7519E1C28B41}"/>
              </a:ext>
            </a:extLst>
          </p:cNvPr>
          <p:cNvSpPr/>
          <p:nvPr/>
        </p:nvSpPr>
        <p:spPr>
          <a:xfrm>
            <a:off x="477920" y="5968699"/>
            <a:ext cx="200722" cy="218149"/>
          </a:xfrm>
          <a:prstGeom prst="ellipse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84EE894-D2DE-4373-D9B6-8745E822D5FB}"/>
              </a:ext>
            </a:extLst>
          </p:cNvPr>
          <p:cNvSpPr/>
          <p:nvPr/>
        </p:nvSpPr>
        <p:spPr>
          <a:xfrm>
            <a:off x="5279978" y="3561628"/>
            <a:ext cx="1684686" cy="100347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F517963-2C6E-0F46-8746-51EEF30C2E96}"/>
              </a:ext>
            </a:extLst>
          </p:cNvPr>
          <p:cNvSpPr/>
          <p:nvPr/>
        </p:nvSpPr>
        <p:spPr>
          <a:xfrm>
            <a:off x="5279978" y="4722754"/>
            <a:ext cx="1684686" cy="100347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3897B50-F42E-7891-6E0A-6F914F55FAC8}"/>
              </a:ext>
            </a:extLst>
          </p:cNvPr>
          <p:cNvSpPr/>
          <p:nvPr/>
        </p:nvSpPr>
        <p:spPr>
          <a:xfrm>
            <a:off x="7176249" y="3561628"/>
            <a:ext cx="1684686" cy="100347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20A970E-85B9-8F0E-0633-A52B45D1EAA1}"/>
              </a:ext>
            </a:extLst>
          </p:cNvPr>
          <p:cNvSpPr/>
          <p:nvPr/>
        </p:nvSpPr>
        <p:spPr>
          <a:xfrm>
            <a:off x="7176249" y="4722754"/>
            <a:ext cx="1684686" cy="100347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EEF899C-E473-8C11-C3F3-CD70558E61D4}"/>
              </a:ext>
            </a:extLst>
          </p:cNvPr>
          <p:cNvSpPr/>
          <p:nvPr/>
        </p:nvSpPr>
        <p:spPr>
          <a:xfrm>
            <a:off x="7176249" y="2389227"/>
            <a:ext cx="1684686" cy="100347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1967CAA-2A32-AA01-CDA7-53C88BB1BEAC}"/>
              </a:ext>
            </a:extLst>
          </p:cNvPr>
          <p:cNvSpPr/>
          <p:nvPr/>
        </p:nvSpPr>
        <p:spPr>
          <a:xfrm>
            <a:off x="5279978" y="2389227"/>
            <a:ext cx="1684686" cy="100347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1C7B7AB-C5DD-D113-E733-A3BC74AA18A0}"/>
              </a:ext>
            </a:extLst>
          </p:cNvPr>
          <p:cNvSpPr/>
          <p:nvPr/>
        </p:nvSpPr>
        <p:spPr>
          <a:xfrm>
            <a:off x="6221388" y="3130005"/>
            <a:ext cx="200722" cy="218149"/>
          </a:xfrm>
          <a:prstGeom prst="ellipse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723C510F-6586-0F15-5281-78267B27D476}"/>
              </a:ext>
            </a:extLst>
          </p:cNvPr>
          <p:cNvSpPr/>
          <p:nvPr/>
        </p:nvSpPr>
        <p:spPr>
          <a:xfrm>
            <a:off x="5439518" y="3115621"/>
            <a:ext cx="200722" cy="218149"/>
          </a:xfrm>
          <a:prstGeom prst="ellipse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43CC02B3-20C8-4F4B-3065-06F8D19A1D2E}"/>
              </a:ext>
            </a:extLst>
          </p:cNvPr>
          <p:cNvSpPr/>
          <p:nvPr/>
        </p:nvSpPr>
        <p:spPr>
          <a:xfrm>
            <a:off x="5439518" y="4288310"/>
            <a:ext cx="200722" cy="218149"/>
          </a:xfrm>
          <a:prstGeom prst="ellipse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BBAED4EF-C03E-A9EE-E852-CC777528553C}"/>
              </a:ext>
            </a:extLst>
          </p:cNvPr>
          <p:cNvSpPr/>
          <p:nvPr/>
        </p:nvSpPr>
        <p:spPr>
          <a:xfrm>
            <a:off x="6594095" y="4247235"/>
            <a:ext cx="200722" cy="218149"/>
          </a:xfrm>
          <a:prstGeom prst="ellipse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0CB11E34-F78F-EB84-5CA7-F19FEEB4FF88}"/>
              </a:ext>
            </a:extLst>
          </p:cNvPr>
          <p:cNvSpPr/>
          <p:nvPr/>
        </p:nvSpPr>
        <p:spPr>
          <a:xfrm>
            <a:off x="5409647" y="5372803"/>
            <a:ext cx="200722" cy="218149"/>
          </a:xfrm>
          <a:prstGeom prst="ellipse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9891E5C0-9EFB-89B9-3A6A-BCF88683478E}"/>
              </a:ext>
            </a:extLst>
          </p:cNvPr>
          <p:cNvSpPr/>
          <p:nvPr/>
        </p:nvSpPr>
        <p:spPr>
          <a:xfrm>
            <a:off x="6373357" y="5436292"/>
            <a:ext cx="200722" cy="218149"/>
          </a:xfrm>
          <a:prstGeom prst="ellipse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39BD8563-352B-DF4A-D348-32CE293B4B14}"/>
              </a:ext>
            </a:extLst>
          </p:cNvPr>
          <p:cNvSpPr/>
          <p:nvPr/>
        </p:nvSpPr>
        <p:spPr>
          <a:xfrm>
            <a:off x="7286468" y="5074662"/>
            <a:ext cx="200722" cy="218149"/>
          </a:xfrm>
          <a:prstGeom prst="ellipse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BB862AC8-D906-5EA8-BBE0-356F87F727CC}"/>
              </a:ext>
            </a:extLst>
          </p:cNvPr>
          <p:cNvSpPr/>
          <p:nvPr/>
        </p:nvSpPr>
        <p:spPr>
          <a:xfrm>
            <a:off x="7275317" y="5425098"/>
            <a:ext cx="200722" cy="218149"/>
          </a:xfrm>
          <a:prstGeom prst="ellipse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07D11758-12A2-5A40-3C47-D9F5857528DA}"/>
              </a:ext>
            </a:extLst>
          </p:cNvPr>
          <p:cNvSpPr/>
          <p:nvPr/>
        </p:nvSpPr>
        <p:spPr>
          <a:xfrm>
            <a:off x="7692056" y="5334566"/>
            <a:ext cx="200722" cy="218149"/>
          </a:xfrm>
          <a:prstGeom prst="ellipse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A386BDC1-4513-FE0E-FFD2-E82584CFA499}"/>
              </a:ext>
            </a:extLst>
          </p:cNvPr>
          <p:cNvSpPr/>
          <p:nvPr/>
        </p:nvSpPr>
        <p:spPr>
          <a:xfrm>
            <a:off x="7784983" y="4280111"/>
            <a:ext cx="200722" cy="218149"/>
          </a:xfrm>
          <a:prstGeom prst="ellipse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BC0A7725-B5B0-54D8-8015-1126E96DB37C}"/>
              </a:ext>
            </a:extLst>
          </p:cNvPr>
          <p:cNvSpPr/>
          <p:nvPr/>
        </p:nvSpPr>
        <p:spPr>
          <a:xfrm>
            <a:off x="5999576" y="4923557"/>
            <a:ext cx="200722" cy="218149"/>
          </a:xfrm>
          <a:prstGeom prst="ellipse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5DC3C0C-880A-10DC-3CF0-F6C7650068E6}"/>
              </a:ext>
            </a:extLst>
          </p:cNvPr>
          <p:cNvSpPr txBox="1"/>
          <p:nvPr/>
        </p:nvSpPr>
        <p:spPr>
          <a:xfrm flipH="1">
            <a:off x="5279122" y="2378085"/>
            <a:ext cx="722237" cy="339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>
                <a:solidFill>
                  <a:srgbClr val="0070C0"/>
                </a:solidFill>
              </a:rPr>
              <a:t>Sales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FE84D0A-97A3-A8CD-5F5B-6DAE45E603CF}"/>
              </a:ext>
            </a:extLst>
          </p:cNvPr>
          <p:cNvSpPr txBox="1"/>
          <p:nvPr/>
        </p:nvSpPr>
        <p:spPr>
          <a:xfrm flipH="1">
            <a:off x="7176249" y="2380597"/>
            <a:ext cx="1164300" cy="339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>
                <a:solidFill>
                  <a:srgbClr val="0070C0"/>
                </a:solidFill>
              </a:rPr>
              <a:t>Marketing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64FE712-E62B-9AA2-2909-534C92D3CCAB}"/>
              </a:ext>
            </a:extLst>
          </p:cNvPr>
          <p:cNvSpPr txBox="1"/>
          <p:nvPr/>
        </p:nvSpPr>
        <p:spPr>
          <a:xfrm flipH="1">
            <a:off x="5269406" y="3549235"/>
            <a:ext cx="1164300" cy="339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>
                <a:solidFill>
                  <a:srgbClr val="0070C0"/>
                </a:solidFill>
              </a:rPr>
              <a:t>Operations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5E9511C-B936-A51B-7F4F-D57333270596}"/>
              </a:ext>
            </a:extLst>
          </p:cNvPr>
          <p:cNvSpPr txBox="1"/>
          <p:nvPr/>
        </p:nvSpPr>
        <p:spPr>
          <a:xfrm flipH="1">
            <a:off x="5293701" y="4722754"/>
            <a:ext cx="1164300" cy="339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>
                <a:solidFill>
                  <a:srgbClr val="0070C0"/>
                </a:solidFill>
              </a:rPr>
              <a:t>HR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73344F7-4F46-7233-E89C-BD73E452457E}"/>
              </a:ext>
            </a:extLst>
          </p:cNvPr>
          <p:cNvSpPr txBox="1"/>
          <p:nvPr/>
        </p:nvSpPr>
        <p:spPr>
          <a:xfrm flipH="1">
            <a:off x="7176249" y="3570441"/>
            <a:ext cx="1164300" cy="339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>
                <a:solidFill>
                  <a:srgbClr val="0070C0"/>
                </a:solidFill>
              </a:rPr>
              <a:t>Finance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B9ABCD3-723B-A640-4AE4-A613CB14AEBE}"/>
              </a:ext>
            </a:extLst>
          </p:cNvPr>
          <p:cNvSpPr txBox="1"/>
          <p:nvPr/>
        </p:nvSpPr>
        <p:spPr>
          <a:xfrm flipH="1">
            <a:off x="7154511" y="4710845"/>
            <a:ext cx="12609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>
                <a:solidFill>
                  <a:srgbClr val="0070C0"/>
                </a:solidFill>
              </a:rPr>
              <a:t>Engineering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ED25FB99-431B-142A-7845-F25F617B8FE0}"/>
              </a:ext>
            </a:extLst>
          </p:cNvPr>
          <p:cNvSpPr/>
          <p:nvPr/>
        </p:nvSpPr>
        <p:spPr>
          <a:xfrm>
            <a:off x="5539879" y="2708219"/>
            <a:ext cx="200722" cy="218149"/>
          </a:xfrm>
          <a:prstGeom prst="ellipse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6AA01238-F40B-B110-1E47-8A8C1630DCF8}"/>
              </a:ext>
            </a:extLst>
          </p:cNvPr>
          <p:cNvSpPr/>
          <p:nvPr/>
        </p:nvSpPr>
        <p:spPr>
          <a:xfrm>
            <a:off x="5841577" y="2942436"/>
            <a:ext cx="200722" cy="218149"/>
          </a:xfrm>
          <a:prstGeom prst="ellipse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BE90C470-C501-B765-6042-39BDC7B55C6E}"/>
              </a:ext>
            </a:extLst>
          </p:cNvPr>
          <p:cNvSpPr/>
          <p:nvPr/>
        </p:nvSpPr>
        <p:spPr>
          <a:xfrm>
            <a:off x="6258129" y="2708219"/>
            <a:ext cx="200722" cy="218149"/>
          </a:xfrm>
          <a:prstGeom prst="ellipse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4D985EFC-D90B-0814-3E21-ECCB8987F3C2}"/>
              </a:ext>
            </a:extLst>
          </p:cNvPr>
          <p:cNvSpPr/>
          <p:nvPr/>
        </p:nvSpPr>
        <p:spPr>
          <a:xfrm>
            <a:off x="7584261" y="2774158"/>
            <a:ext cx="200722" cy="218149"/>
          </a:xfrm>
          <a:prstGeom prst="ellipse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095CF702-7E17-A37A-041D-2A1A5AB790F8}"/>
              </a:ext>
            </a:extLst>
          </p:cNvPr>
          <p:cNvSpPr/>
          <p:nvPr/>
        </p:nvSpPr>
        <p:spPr>
          <a:xfrm>
            <a:off x="8023460" y="2970005"/>
            <a:ext cx="200722" cy="218149"/>
          </a:xfrm>
          <a:prstGeom prst="ellipse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A8ADB45E-0288-DDBD-7DCD-C2336F5EA1BA}"/>
              </a:ext>
            </a:extLst>
          </p:cNvPr>
          <p:cNvSpPr/>
          <p:nvPr/>
        </p:nvSpPr>
        <p:spPr>
          <a:xfrm>
            <a:off x="5703430" y="3972964"/>
            <a:ext cx="200722" cy="218149"/>
          </a:xfrm>
          <a:prstGeom prst="ellipse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B588DC91-71B2-4458-D207-7FA6298B0C04}"/>
              </a:ext>
            </a:extLst>
          </p:cNvPr>
          <p:cNvSpPr/>
          <p:nvPr/>
        </p:nvSpPr>
        <p:spPr>
          <a:xfrm>
            <a:off x="6085153" y="4201094"/>
            <a:ext cx="200722" cy="218149"/>
          </a:xfrm>
          <a:prstGeom prst="ellipse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475D8737-16AA-170D-956E-F618FFAF4F58}"/>
              </a:ext>
            </a:extLst>
          </p:cNvPr>
          <p:cNvSpPr/>
          <p:nvPr/>
        </p:nvSpPr>
        <p:spPr>
          <a:xfrm>
            <a:off x="6373357" y="3871430"/>
            <a:ext cx="200722" cy="218149"/>
          </a:xfrm>
          <a:prstGeom prst="ellipse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5A13078F-836C-23B5-C50B-19E37D22B6F3}"/>
              </a:ext>
            </a:extLst>
          </p:cNvPr>
          <p:cNvSpPr/>
          <p:nvPr/>
        </p:nvSpPr>
        <p:spPr>
          <a:xfrm>
            <a:off x="7559805" y="3954288"/>
            <a:ext cx="200722" cy="218149"/>
          </a:xfrm>
          <a:prstGeom prst="ellipse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840C6C76-51BF-4A54-BDA2-F85B9632BFA8}"/>
              </a:ext>
            </a:extLst>
          </p:cNvPr>
          <p:cNvSpPr/>
          <p:nvPr/>
        </p:nvSpPr>
        <p:spPr>
          <a:xfrm>
            <a:off x="8104084" y="4200249"/>
            <a:ext cx="200722" cy="218149"/>
          </a:xfrm>
          <a:prstGeom prst="ellipse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486FABE1-A024-BC3B-0744-16BD7497472D}"/>
              </a:ext>
            </a:extLst>
          </p:cNvPr>
          <p:cNvSpPr/>
          <p:nvPr/>
        </p:nvSpPr>
        <p:spPr>
          <a:xfrm>
            <a:off x="5567183" y="5001524"/>
            <a:ext cx="200722" cy="218149"/>
          </a:xfrm>
          <a:prstGeom prst="ellipse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A1297F1B-A265-58EE-86B3-4053A29E01D4}"/>
              </a:ext>
            </a:extLst>
          </p:cNvPr>
          <p:cNvSpPr/>
          <p:nvPr/>
        </p:nvSpPr>
        <p:spPr>
          <a:xfrm>
            <a:off x="5887291" y="5285046"/>
            <a:ext cx="200722" cy="218149"/>
          </a:xfrm>
          <a:prstGeom prst="ellipse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FA2FE9E8-FDC5-80DC-FFC5-4F30A5E992BA}"/>
              </a:ext>
            </a:extLst>
          </p:cNvPr>
          <p:cNvSpPr/>
          <p:nvPr/>
        </p:nvSpPr>
        <p:spPr>
          <a:xfrm>
            <a:off x="6321749" y="5001523"/>
            <a:ext cx="200722" cy="218149"/>
          </a:xfrm>
          <a:prstGeom prst="ellipse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7FAB44BF-EBC7-D69F-221D-CFE405FAD8E7}"/>
              </a:ext>
            </a:extLst>
          </p:cNvPr>
          <p:cNvSpPr/>
          <p:nvPr/>
        </p:nvSpPr>
        <p:spPr>
          <a:xfrm>
            <a:off x="7730093" y="5065432"/>
            <a:ext cx="200722" cy="218149"/>
          </a:xfrm>
          <a:prstGeom prst="ellipse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D57B5851-493A-D51D-2BDB-657E8A02046A}"/>
              </a:ext>
            </a:extLst>
          </p:cNvPr>
          <p:cNvSpPr/>
          <p:nvPr/>
        </p:nvSpPr>
        <p:spPr>
          <a:xfrm>
            <a:off x="8163571" y="5467022"/>
            <a:ext cx="200722" cy="218149"/>
          </a:xfrm>
          <a:prstGeom prst="ellipse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8C71A4A3-13B8-EC46-792F-884DFA3BE8AC}"/>
              </a:ext>
            </a:extLst>
          </p:cNvPr>
          <p:cNvSpPr/>
          <p:nvPr/>
        </p:nvSpPr>
        <p:spPr>
          <a:xfrm>
            <a:off x="7308504" y="2995026"/>
            <a:ext cx="200722" cy="218149"/>
          </a:xfrm>
          <a:prstGeom prst="ellipse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8C630C13-C1D3-4962-F4FF-DB2871572668}"/>
              </a:ext>
            </a:extLst>
          </p:cNvPr>
          <p:cNvSpPr/>
          <p:nvPr/>
        </p:nvSpPr>
        <p:spPr>
          <a:xfrm>
            <a:off x="8426604" y="2711281"/>
            <a:ext cx="200722" cy="218149"/>
          </a:xfrm>
          <a:prstGeom prst="ellipse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50A11F2D-C37A-8F66-B1CE-576C23BDFF7C}"/>
              </a:ext>
            </a:extLst>
          </p:cNvPr>
          <p:cNvSpPr/>
          <p:nvPr/>
        </p:nvSpPr>
        <p:spPr>
          <a:xfrm>
            <a:off x="8163571" y="3746938"/>
            <a:ext cx="200722" cy="218149"/>
          </a:xfrm>
          <a:prstGeom prst="ellipse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BEDE5DA3-2915-53C7-0301-185D2AED103D}"/>
              </a:ext>
            </a:extLst>
          </p:cNvPr>
          <p:cNvSpPr/>
          <p:nvPr/>
        </p:nvSpPr>
        <p:spPr>
          <a:xfrm>
            <a:off x="7640061" y="3095805"/>
            <a:ext cx="200722" cy="218149"/>
          </a:xfrm>
          <a:prstGeom prst="ellipse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9E63FC6B-87EB-EF41-B701-8DCD306DA4D3}"/>
              </a:ext>
            </a:extLst>
          </p:cNvPr>
          <p:cNvSpPr/>
          <p:nvPr/>
        </p:nvSpPr>
        <p:spPr>
          <a:xfrm>
            <a:off x="8134690" y="5089584"/>
            <a:ext cx="200722" cy="218149"/>
          </a:xfrm>
          <a:prstGeom prst="ellipse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0ED950A7-CD50-DBCD-2DCC-6C06638F5E01}"/>
              </a:ext>
            </a:extLst>
          </p:cNvPr>
          <p:cNvSpPr/>
          <p:nvPr/>
        </p:nvSpPr>
        <p:spPr>
          <a:xfrm>
            <a:off x="8544132" y="5174080"/>
            <a:ext cx="200722" cy="218149"/>
          </a:xfrm>
          <a:prstGeom prst="ellipse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EA2BC125-1806-7302-FE8F-3CF9131BFC4A}"/>
              </a:ext>
            </a:extLst>
          </p:cNvPr>
          <p:cNvSpPr/>
          <p:nvPr/>
        </p:nvSpPr>
        <p:spPr>
          <a:xfrm>
            <a:off x="8440054" y="4026437"/>
            <a:ext cx="200722" cy="218149"/>
          </a:xfrm>
          <a:prstGeom prst="ellipse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9F4EFFDB-A362-9DE9-BE0B-22D490DE9E33}"/>
              </a:ext>
            </a:extLst>
          </p:cNvPr>
          <p:cNvSpPr/>
          <p:nvPr/>
        </p:nvSpPr>
        <p:spPr>
          <a:xfrm>
            <a:off x="6473721" y="2970004"/>
            <a:ext cx="200722" cy="218149"/>
          </a:xfrm>
          <a:prstGeom prst="ellipse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99D50030-380E-3723-3480-EE7BF8F5E6EF}"/>
              </a:ext>
            </a:extLst>
          </p:cNvPr>
          <p:cNvSpPr/>
          <p:nvPr/>
        </p:nvSpPr>
        <p:spPr>
          <a:xfrm>
            <a:off x="8488150" y="3033335"/>
            <a:ext cx="200722" cy="218149"/>
          </a:xfrm>
          <a:prstGeom prst="ellipse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5AF1D72A-F7BE-4FFA-BD85-389F69B59BBE}"/>
              </a:ext>
            </a:extLst>
          </p:cNvPr>
          <p:cNvSpPr/>
          <p:nvPr/>
        </p:nvSpPr>
        <p:spPr>
          <a:xfrm>
            <a:off x="7904528" y="3943769"/>
            <a:ext cx="200722" cy="218149"/>
          </a:xfrm>
          <a:prstGeom prst="ellipse">
            <a:avLst/>
          </a:prstGeom>
          <a:gradFill flip="none" rotWithShape="1">
            <a:gsLst>
              <a:gs pos="0">
                <a:srgbClr val="FFC000">
                  <a:tint val="66000"/>
                  <a:satMod val="160000"/>
                </a:srgbClr>
              </a:gs>
              <a:gs pos="50000">
                <a:srgbClr val="FFC000">
                  <a:tint val="44500"/>
                  <a:satMod val="160000"/>
                </a:srgbClr>
              </a:gs>
              <a:gs pos="100000">
                <a:srgbClr val="FFC000">
                  <a:tint val="23500"/>
                  <a:satMod val="160000"/>
                </a:srgb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862F141C-AB8B-0D67-3D33-02495950E554}"/>
              </a:ext>
            </a:extLst>
          </p:cNvPr>
          <p:cNvSpPr/>
          <p:nvPr/>
        </p:nvSpPr>
        <p:spPr>
          <a:xfrm>
            <a:off x="6711797" y="5150991"/>
            <a:ext cx="200722" cy="218149"/>
          </a:xfrm>
          <a:prstGeom prst="ellipse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F4B686C3-6F25-4BF3-148E-98497656FC7B}"/>
              </a:ext>
            </a:extLst>
          </p:cNvPr>
          <p:cNvSpPr/>
          <p:nvPr/>
        </p:nvSpPr>
        <p:spPr>
          <a:xfrm>
            <a:off x="6594095" y="2636584"/>
            <a:ext cx="200722" cy="218149"/>
          </a:xfrm>
          <a:prstGeom prst="ellipse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0D5157D1-03B2-8A7F-954F-8D981AAC47D4}"/>
              </a:ext>
            </a:extLst>
          </p:cNvPr>
          <p:cNvSpPr/>
          <p:nvPr/>
        </p:nvSpPr>
        <p:spPr>
          <a:xfrm>
            <a:off x="6066988" y="3870254"/>
            <a:ext cx="200722" cy="218149"/>
          </a:xfrm>
          <a:prstGeom prst="ellipse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E9BC94CA-8E84-DCC0-D8DB-51BDCAE4E44D}"/>
              </a:ext>
            </a:extLst>
          </p:cNvPr>
          <p:cNvSpPr/>
          <p:nvPr/>
        </p:nvSpPr>
        <p:spPr>
          <a:xfrm>
            <a:off x="5830682" y="4277953"/>
            <a:ext cx="200722" cy="218149"/>
          </a:xfrm>
          <a:prstGeom prst="ellipse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139A7046-5EB2-34D8-2754-AB8D46A59FC2}"/>
              </a:ext>
            </a:extLst>
          </p:cNvPr>
          <p:cNvSpPr/>
          <p:nvPr/>
        </p:nvSpPr>
        <p:spPr>
          <a:xfrm>
            <a:off x="7356102" y="4207529"/>
            <a:ext cx="200722" cy="218149"/>
          </a:xfrm>
          <a:prstGeom prst="ellipse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17271BFE-17BD-62B8-9539-6AC302DB5015}"/>
              </a:ext>
            </a:extLst>
          </p:cNvPr>
          <p:cNvSpPr/>
          <p:nvPr/>
        </p:nvSpPr>
        <p:spPr>
          <a:xfrm>
            <a:off x="8464239" y="5450152"/>
            <a:ext cx="200722" cy="218149"/>
          </a:xfrm>
          <a:prstGeom prst="ellipse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51C4DD4F-E194-16B1-4190-0F46296751B1}"/>
              </a:ext>
            </a:extLst>
          </p:cNvPr>
          <p:cNvSpPr/>
          <p:nvPr/>
        </p:nvSpPr>
        <p:spPr>
          <a:xfrm>
            <a:off x="7629732" y="4259680"/>
            <a:ext cx="200722" cy="218149"/>
          </a:xfrm>
          <a:prstGeom prst="ellipse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979B1A9-F25E-FFB9-0EDA-C77E2F406927}"/>
              </a:ext>
            </a:extLst>
          </p:cNvPr>
          <p:cNvSpPr txBox="1"/>
          <p:nvPr/>
        </p:nvSpPr>
        <p:spPr>
          <a:xfrm flipH="1">
            <a:off x="1517698" y="5883880"/>
            <a:ext cx="25898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/>
              <a:t>Applications (health)</a:t>
            </a:r>
          </a:p>
        </p:txBody>
      </p:sp>
      <p:sp>
        <p:nvSpPr>
          <p:cNvPr id="94" name="Arrow: Down 93">
            <a:extLst>
              <a:ext uri="{FF2B5EF4-FFF2-40B4-BE49-F238E27FC236}">
                <a16:creationId xmlns:a16="http://schemas.microsoft.com/office/drawing/2014/main" id="{4073310B-9550-4B21-7528-BE3F203D0435}"/>
              </a:ext>
            </a:extLst>
          </p:cNvPr>
          <p:cNvSpPr/>
          <p:nvPr/>
        </p:nvSpPr>
        <p:spPr>
          <a:xfrm rot="16200000">
            <a:off x="4532537" y="3697032"/>
            <a:ext cx="278185" cy="579784"/>
          </a:xfrm>
          <a:prstGeom prst="downArrow">
            <a:avLst/>
          </a:prstGeom>
          <a:gradFill flip="none" rotWithShape="1">
            <a:gsLst>
              <a:gs pos="0">
                <a:schemeClr val="bg2">
                  <a:lumMod val="75000"/>
                  <a:tint val="66000"/>
                  <a:satMod val="160000"/>
                </a:schemeClr>
              </a:gs>
              <a:gs pos="50000">
                <a:schemeClr val="bg2">
                  <a:lumMod val="75000"/>
                  <a:tint val="44500"/>
                  <a:satMod val="160000"/>
                </a:schemeClr>
              </a:gs>
              <a:gs pos="100000">
                <a:schemeClr val="bg2">
                  <a:lumMod val="75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EBC2E9EE-4DC4-C50F-B02A-576283DB362F}"/>
              </a:ext>
            </a:extLst>
          </p:cNvPr>
          <p:cNvSpPr txBox="1"/>
          <p:nvPr/>
        </p:nvSpPr>
        <p:spPr>
          <a:xfrm flipH="1">
            <a:off x="4107504" y="5883880"/>
            <a:ext cx="15627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b="1" dirty="0"/>
              <a:t>over time…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2942E95B-4257-D68E-F3E4-152DE63EFD2D}"/>
              </a:ext>
            </a:extLst>
          </p:cNvPr>
          <p:cNvSpPr txBox="1"/>
          <p:nvPr/>
        </p:nvSpPr>
        <p:spPr>
          <a:xfrm>
            <a:off x="9622386" y="2880441"/>
            <a:ext cx="254359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600" dirty="0"/>
              <a:t>Throughout an application’s lifecycle, business value, technical condition, cost and modernization change. 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0BE63A73-6977-E243-C2F6-8DD194414F43}"/>
              </a:ext>
            </a:extLst>
          </p:cNvPr>
          <p:cNvSpPr txBox="1"/>
          <p:nvPr/>
        </p:nvSpPr>
        <p:spPr>
          <a:xfrm>
            <a:off x="9622386" y="3972326"/>
            <a:ext cx="267071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600" dirty="0"/>
              <a:t>Technology changes, skilled resources leave, licencing increases, business users decline. 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F86AAE38-4B41-11BE-B6AB-B0A9F68C3EB1}"/>
              </a:ext>
            </a:extLst>
          </p:cNvPr>
          <p:cNvSpPr txBox="1"/>
          <p:nvPr/>
        </p:nvSpPr>
        <p:spPr>
          <a:xfrm>
            <a:off x="9622386" y="5040892"/>
            <a:ext cx="267071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600" dirty="0"/>
              <a:t>Applications, once state-of-the-art, become a source of technical debt.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3C964C92-96D2-8CDA-9606-83CBCB0260D0}"/>
              </a:ext>
            </a:extLst>
          </p:cNvPr>
          <p:cNvSpPr txBox="1"/>
          <p:nvPr/>
        </p:nvSpPr>
        <p:spPr>
          <a:xfrm>
            <a:off x="9622386" y="2298541"/>
            <a:ext cx="24097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600" dirty="0"/>
              <a:t>Application sprawl reduces clarity.</a:t>
            </a: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935C8A38-2557-92BF-19E9-A7887E9118F9}"/>
              </a:ext>
            </a:extLst>
          </p:cNvPr>
          <p:cNvSpPr/>
          <p:nvPr/>
        </p:nvSpPr>
        <p:spPr>
          <a:xfrm>
            <a:off x="6358489" y="4126017"/>
            <a:ext cx="200722" cy="218149"/>
          </a:xfrm>
          <a:prstGeom prst="ellipse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84169D00-862C-263C-317B-9A6AFC5816B7}"/>
              </a:ext>
            </a:extLst>
          </p:cNvPr>
          <p:cNvSpPr/>
          <p:nvPr/>
        </p:nvSpPr>
        <p:spPr>
          <a:xfrm>
            <a:off x="5925758" y="2637095"/>
            <a:ext cx="200722" cy="218149"/>
          </a:xfrm>
          <a:prstGeom prst="ellipse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EEEF354C-98A8-A151-1C2F-15968D0270B1}"/>
              </a:ext>
            </a:extLst>
          </p:cNvPr>
          <p:cNvSpPr/>
          <p:nvPr/>
        </p:nvSpPr>
        <p:spPr>
          <a:xfrm>
            <a:off x="6157767" y="5217452"/>
            <a:ext cx="200722" cy="218149"/>
          </a:xfrm>
          <a:prstGeom prst="ellipse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871C7EE2-2A34-B4E9-1DD5-9407DD4FF9AB}"/>
              </a:ext>
            </a:extLst>
          </p:cNvPr>
          <p:cNvCxnSpPr/>
          <p:nvPr/>
        </p:nvCxnSpPr>
        <p:spPr>
          <a:xfrm flipH="1">
            <a:off x="9210907" y="2590928"/>
            <a:ext cx="256478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0D02E109-751C-F5AC-541C-7E836D97117C}"/>
              </a:ext>
            </a:extLst>
          </p:cNvPr>
          <p:cNvCxnSpPr>
            <a:cxnSpLocks/>
          </p:cNvCxnSpPr>
          <p:nvPr/>
        </p:nvCxnSpPr>
        <p:spPr>
          <a:xfrm>
            <a:off x="9210907" y="2586919"/>
            <a:ext cx="0" cy="3081382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8B7B90B8-FEC2-0BA8-D619-2723930CAD5C}"/>
              </a:ext>
            </a:extLst>
          </p:cNvPr>
          <p:cNvCxnSpPr/>
          <p:nvPr/>
        </p:nvCxnSpPr>
        <p:spPr>
          <a:xfrm flipH="1">
            <a:off x="9210907" y="5671422"/>
            <a:ext cx="256478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85755A17-E84C-976B-4F31-BDB039A66D77}"/>
              </a:ext>
            </a:extLst>
          </p:cNvPr>
          <p:cNvCxnSpPr/>
          <p:nvPr/>
        </p:nvCxnSpPr>
        <p:spPr>
          <a:xfrm flipH="1">
            <a:off x="8954429" y="3909704"/>
            <a:ext cx="256478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7" name="Oval 116">
            <a:extLst>
              <a:ext uri="{FF2B5EF4-FFF2-40B4-BE49-F238E27FC236}">
                <a16:creationId xmlns:a16="http://schemas.microsoft.com/office/drawing/2014/main" id="{37D40DEF-6C03-71AA-8E2D-F7836159BAD7}"/>
              </a:ext>
            </a:extLst>
          </p:cNvPr>
          <p:cNvSpPr/>
          <p:nvPr/>
        </p:nvSpPr>
        <p:spPr>
          <a:xfrm>
            <a:off x="7389587" y="4009441"/>
            <a:ext cx="200722" cy="218149"/>
          </a:xfrm>
          <a:prstGeom prst="ellipse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E0F76795-1086-2701-289A-9540D3C7169F}"/>
              </a:ext>
            </a:extLst>
          </p:cNvPr>
          <p:cNvSpPr/>
          <p:nvPr/>
        </p:nvSpPr>
        <p:spPr>
          <a:xfrm>
            <a:off x="6371788" y="4175054"/>
            <a:ext cx="200722" cy="218149"/>
          </a:xfrm>
          <a:prstGeom prst="ellipse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7C29B8F7-22D6-8BA7-67EB-113802C0765E}"/>
              </a:ext>
            </a:extLst>
          </p:cNvPr>
          <p:cNvSpPr/>
          <p:nvPr/>
        </p:nvSpPr>
        <p:spPr>
          <a:xfrm>
            <a:off x="7816028" y="2855364"/>
            <a:ext cx="200722" cy="218149"/>
          </a:xfrm>
          <a:prstGeom prst="ellipse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5089A676-6056-0B2F-6BCA-76A73B551C6A}"/>
              </a:ext>
            </a:extLst>
          </p:cNvPr>
          <p:cNvSpPr/>
          <p:nvPr/>
        </p:nvSpPr>
        <p:spPr>
          <a:xfrm>
            <a:off x="5705147" y="5004211"/>
            <a:ext cx="200722" cy="218149"/>
          </a:xfrm>
          <a:prstGeom prst="ellipse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DC232C99-E91A-ED8A-EFED-42CABFD02DDF}"/>
              </a:ext>
            </a:extLst>
          </p:cNvPr>
          <p:cNvSpPr/>
          <p:nvPr/>
        </p:nvSpPr>
        <p:spPr>
          <a:xfrm>
            <a:off x="6495334" y="5165991"/>
            <a:ext cx="200722" cy="218149"/>
          </a:xfrm>
          <a:prstGeom prst="ellipse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AD71CAB2-0D22-3D71-6F06-F2DBCBBF1AB3}"/>
              </a:ext>
            </a:extLst>
          </p:cNvPr>
          <p:cNvSpPr/>
          <p:nvPr/>
        </p:nvSpPr>
        <p:spPr>
          <a:xfrm>
            <a:off x="7972420" y="5158253"/>
            <a:ext cx="200722" cy="218149"/>
          </a:xfrm>
          <a:prstGeom prst="ellipse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9D372BBD-D961-9509-48C2-140C2A50A861}"/>
              </a:ext>
            </a:extLst>
          </p:cNvPr>
          <p:cNvSpPr/>
          <p:nvPr/>
        </p:nvSpPr>
        <p:spPr>
          <a:xfrm>
            <a:off x="7578541" y="5154654"/>
            <a:ext cx="200722" cy="218149"/>
          </a:xfrm>
          <a:prstGeom prst="ellipse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E8FA6084-ADF1-BDCD-1E2D-E2DF4C6FFDBD}"/>
              </a:ext>
            </a:extLst>
          </p:cNvPr>
          <p:cNvSpPr/>
          <p:nvPr/>
        </p:nvSpPr>
        <p:spPr>
          <a:xfrm>
            <a:off x="7477190" y="2848409"/>
            <a:ext cx="200722" cy="218149"/>
          </a:xfrm>
          <a:prstGeom prst="ellipse">
            <a:avLst/>
          </a:prstGeom>
          <a:gradFill flip="none" rotWithShape="1">
            <a:gsLst>
              <a:gs pos="0">
                <a:srgbClr val="FFC000">
                  <a:tint val="66000"/>
                  <a:satMod val="160000"/>
                </a:srgbClr>
              </a:gs>
              <a:gs pos="50000">
                <a:srgbClr val="FFC000">
                  <a:tint val="44500"/>
                  <a:satMod val="160000"/>
                </a:srgbClr>
              </a:gs>
              <a:gs pos="100000">
                <a:srgbClr val="FFC000">
                  <a:tint val="23500"/>
                  <a:satMod val="160000"/>
                </a:srgb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7F0D4772-0058-C71C-1FB6-5CAF07655A13}"/>
              </a:ext>
            </a:extLst>
          </p:cNvPr>
          <p:cNvSpPr/>
          <p:nvPr/>
        </p:nvSpPr>
        <p:spPr>
          <a:xfrm>
            <a:off x="8320111" y="5040271"/>
            <a:ext cx="200722" cy="218149"/>
          </a:xfrm>
          <a:prstGeom prst="ellipse">
            <a:avLst/>
          </a:prstGeom>
          <a:gradFill flip="none" rotWithShape="1">
            <a:gsLst>
              <a:gs pos="0">
                <a:srgbClr val="FFC000">
                  <a:tint val="66000"/>
                  <a:satMod val="160000"/>
                </a:srgbClr>
              </a:gs>
              <a:gs pos="50000">
                <a:srgbClr val="FFC000">
                  <a:tint val="44500"/>
                  <a:satMod val="160000"/>
                </a:srgbClr>
              </a:gs>
              <a:gs pos="100000">
                <a:srgbClr val="FFC000">
                  <a:tint val="23500"/>
                  <a:satMod val="160000"/>
                </a:srgb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D27BD21C-267B-9513-66DD-941435F41639}"/>
              </a:ext>
            </a:extLst>
          </p:cNvPr>
          <p:cNvSpPr/>
          <p:nvPr/>
        </p:nvSpPr>
        <p:spPr>
          <a:xfrm>
            <a:off x="6153779" y="2972349"/>
            <a:ext cx="200722" cy="218149"/>
          </a:xfrm>
          <a:prstGeom prst="ellipse">
            <a:avLst/>
          </a:prstGeom>
          <a:gradFill flip="none" rotWithShape="1">
            <a:gsLst>
              <a:gs pos="0">
                <a:srgbClr val="FFC000">
                  <a:tint val="66000"/>
                  <a:satMod val="160000"/>
                </a:srgbClr>
              </a:gs>
              <a:gs pos="50000">
                <a:srgbClr val="FFC000">
                  <a:tint val="44500"/>
                  <a:satMod val="160000"/>
                </a:srgbClr>
              </a:gs>
              <a:gs pos="100000">
                <a:srgbClr val="FFC000">
                  <a:tint val="23500"/>
                  <a:satMod val="160000"/>
                </a:srgb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181E11CC-7CD4-4DC2-0536-C2848E3CAE44}"/>
              </a:ext>
            </a:extLst>
          </p:cNvPr>
          <p:cNvSpPr/>
          <p:nvPr/>
        </p:nvSpPr>
        <p:spPr>
          <a:xfrm>
            <a:off x="5715188" y="5166784"/>
            <a:ext cx="200722" cy="218149"/>
          </a:xfrm>
          <a:prstGeom prst="ellipse">
            <a:avLst/>
          </a:prstGeom>
          <a:gradFill flip="none" rotWithShape="1">
            <a:gsLst>
              <a:gs pos="0">
                <a:srgbClr val="FFC000">
                  <a:tint val="66000"/>
                  <a:satMod val="160000"/>
                </a:srgbClr>
              </a:gs>
              <a:gs pos="50000">
                <a:srgbClr val="FFC000">
                  <a:tint val="44500"/>
                  <a:satMod val="160000"/>
                </a:srgbClr>
              </a:gs>
              <a:gs pos="100000">
                <a:srgbClr val="FFC000">
                  <a:tint val="23500"/>
                  <a:satMod val="160000"/>
                </a:srgb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8" name="Oval 127">
            <a:extLst>
              <a:ext uri="{FF2B5EF4-FFF2-40B4-BE49-F238E27FC236}">
                <a16:creationId xmlns:a16="http://schemas.microsoft.com/office/drawing/2014/main" id="{8D7F8959-F8F9-35F8-B590-EDA2FB6469DD}"/>
              </a:ext>
            </a:extLst>
          </p:cNvPr>
          <p:cNvSpPr/>
          <p:nvPr/>
        </p:nvSpPr>
        <p:spPr>
          <a:xfrm>
            <a:off x="6168636" y="5350312"/>
            <a:ext cx="200722" cy="218149"/>
          </a:xfrm>
          <a:prstGeom prst="ellipse">
            <a:avLst/>
          </a:prstGeom>
          <a:gradFill flip="none" rotWithShape="1">
            <a:gsLst>
              <a:gs pos="0">
                <a:srgbClr val="FFC000">
                  <a:tint val="66000"/>
                  <a:satMod val="160000"/>
                </a:srgbClr>
              </a:gs>
              <a:gs pos="50000">
                <a:srgbClr val="FFC000">
                  <a:tint val="44500"/>
                  <a:satMod val="160000"/>
                </a:srgbClr>
              </a:gs>
              <a:gs pos="100000">
                <a:srgbClr val="FFC000">
                  <a:tint val="23500"/>
                  <a:satMod val="160000"/>
                </a:srgb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9" name="Oval 128">
            <a:extLst>
              <a:ext uri="{FF2B5EF4-FFF2-40B4-BE49-F238E27FC236}">
                <a16:creationId xmlns:a16="http://schemas.microsoft.com/office/drawing/2014/main" id="{E88E1A1A-9491-C523-DCE8-4230DC1A1F7F}"/>
              </a:ext>
            </a:extLst>
          </p:cNvPr>
          <p:cNvSpPr/>
          <p:nvPr/>
        </p:nvSpPr>
        <p:spPr>
          <a:xfrm>
            <a:off x="1142350" y="5968699"/>
            <a:ext cx="200722" cy="218149"/>
          </a:xfrm>
          <a:prstGeom prst="ellipse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9AD517E2-E48B-04F3-9EE2-ABCF3999651C}"/>
              </a:ext>
            </a:extLst>
          </p:cNvPr>
          <p:cNvSpPr/>
          <p:nvPr/>
        </p:nvSpPr>
        <p:spPr>
          <a:xfrm>
            <a:off x="810135" y="5968699"/>
            <a:ext cx="200722" cy="218149"/>
          </a:xfrm>
          <a:prstGeom prst="ellipse">
            <a:avLst/>
          </a:prstGeom>
          <a:gradFill flip="none" rotWithShape="1">
            <a:gsLst>
              <a:gs pos="0">
                <a:srgbClr val="FFC000">
                  <a:tint val="66000"/>
                  <a:satMod val="160000"/>
                </a:srgbClr>
              </a:gs>
              <a:gs pos="50000">
                <a:srgbClr val="FFC000">
                  <a:tint val="44500"/>
                  <a:satMod val="160000"/>
                </a:srgbClr>
              </a:gs>
              <a:gs pos="100000">
                <a:srgbClr val="FFC000">
                  <a:tint val="23500"/>
                  <a:satMod val="160000"/>
                </a:srgb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52902D9A-F06F-E595-7EA5-0B234AA509C5}"/>
              </a:ext>
            </a:extLst>
          </p:cNvPr>
          <p:cNvSpPr txBox="1"/>
          <p:nvPr/>
        </p:nvSpPr>
        <p:spPr>
          <a:xfrm flipH="1">
            <a:off x="477919" y="1962084"/>
            <a:ext cx="35193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b="1" dirty="0"/>
              <a:t>Application Portfolio – Year</a:t>
            </a:r>
            <a:r>
              <a:rPr lang="en-CA" sz="2000" b="1" baseline="-25000" dirty="0"/>
              <a:t>1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D47AC94D-EC29-E506-A8AC-8F3BE570D9B5}"/>
              </a:ext>
            </a:extLst>
          </p:cNvPr>
          <p:cNvSpPr txBox="1"/>
          <p:nvPr/>
        </p:nvSpPr>
        <p:spPr>
          <a:xfrm flipH="1">
            <a:off x="5225489" y="1900798"/>
            <a:ext cx="35193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b="1" dirty="0"/>
              <a:t>Application Portfolio – Year</a:t>
            </a:r>
            <a:r>
              <a:rPr lang="en-CA" sz="2000" b="1" baseline="-25000" dirty="0"/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23974916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E82AA-9C8A-7720-D64D-84F7B6FD2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73A06-7207-9863-A924-A140A9006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  <a:latin typeface="+mn-lt"/>
              </a:rPr>
              <a:t>The opportunity…</a:t>
            </a:r>
            <a:endParaRPr lang="en-US" dirty="0">
              <a:latin typeface="+mn-lt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033DEAF-427B-9A4A-024D-840147F9ED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CA" dirty="0"/>
              <a:t>Managing the portfolio can be a daunting process and assessing and classifying applications into target-state buckets is not an exact science.</a:t>
            </a:r>
          </a:p>
          <a:p>
            <a:r>
              <a:rPr lang="en-CA" dirty="0"/>
              <a:t>Heuristics and rules can be developed to assess and triage applications based on APM performance measurements (e.g., business value, technical condition, Return on Investment).</a:t>
            </a:r>
          </a:p>
          <a:p>
            <a:r>
              <a:rPr lang="en-CA" dirty="0"/>
              <a:t>An Agent can then use rules to build a knowledge graph to represent different application domain assessments.</a:t>
            </a:r>
          </a:p>
          <a:p>
            <a:r>
              <a:rPr lang="en-CA" dirty="0"/>
              <a:t>An Agent can also use rules to traverse the knowledge graph using shortest-path, breadth-first and depth-first searches to identify applications for particular plans.  </a:t>
            </a:r>
          </a:p>
          <a:p>
            <a:r>
              <a:rPr lang="en-CA" dirty="0"/>
              <a:t>Finally, a rules / heuristic dataset can facilitate knowledge transfer to new staff.</a:t>
            </a:r>
            <a:endParaRPr lang="en-CA" sz="1600" dirty="0"/>
          </a:p>
          <a:p>
            <a:endParaRPr lang="en-CA" sz="1600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16275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91F5A-4D57-5088-8913-5D36759E0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FF630-7692-F5B6-CD4B-6E997B1E6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  <a:latin typeface="+mn-lt"/>
              </a:rPr>
              <a:t>Business and Tech Leads provide the data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FC15C03-4475-D3AB-9865-DB96D2446F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Application assessment data is collected from: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CA" dirty="0"/>
              <a:t>Excel spreadsheets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CA" dirty="0"/>
              <a:t>Application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CA" dirty="0"/>
              <a:t>Configuration Management Database (CMDB)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CA" dirty="0"/>
              <a:t>User surveys</a:t>
            </a:r>
          </a:p>
          <a:p>
            <a:endParaRPr lang="en-CA" dirty="0"/>
          </a:p>
        </p:txBody>
      </p:sp>
      <p:pic>
        <p:nvPicPr>
          <p:cNvPr id="7" name="Picture 6" descr="A screenshot of a number&#10;&#10;AI-generated content may be incorrect.">
            <a:extLst>
              <a:ext uri="{FF2B5EF4-FFF2-40B4-BE49-F238E27FC236}">
                <a16:creationId xmlns:a16="http://schemas.microsoft.com/office/drawing/2014/main" id="{FD4DF67A-58C6-AB54-11D9-E522AFE2BB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449" y="4206255"/>
            <a:ext cx="9701101" cy="1790855"/>
          </a:xfrm>
          <a:prstGeom prst="rect">
            <a:avLst/>
          </a:prstGeom>
        </p:spPr>
      </p:pic>
      <p:sp>
        <p:nvSpPr>
          <p:cNvPr id="8" name="Callout: Line with Accent Bar 7">
            <a:extLst>
              <a:ext uri="{FF2B5EF4-FFF2-40B4-BE49-F238E27FC236}">
                <a16:creationId xmlns:a16="http://schemas.microsoft.com/office/drawing/2014/main" id="{9F004CDA-38C8-CD2F-F3C5-7D2A0949F117}"/>
              </a:ext>
            </a:extLst>
          </p:cNvPr>
          <p:cNvSpPr/>
          <p:nvPr/>
        </p:nvSpPr>
        <p:spPr>
          <a:xfrm>
            <a:off x="8930640" y="2936240"/>
            <a:ext cx="2377440" cy="612648"/>
          </a:xfrm>
          <a:prstGeom prst="accentCallout1">
            <a:avLst>
              <a:gd name="adj1" fmla="val 18750"/>
              <a:gd name="adj2" fmla="val -8333"/>
              <a:gd name="adj3" fmla="val 218636"/>
              <a:gd name="adj4" fmla="val -131666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Potentially hundreds of data assessment points</a:t>
            </a:r>
          </a:p>
        </p:txBody>
      </p:sp>
    </p:spTree>
    <p:extLst>
      <p:ext uri="{BB962C8B-B14F-4D97-AF65-F5344CB8AC3E}">
        <p14:creationId xmlns:p14="http://schemas.microsoft.com/office/powerpoint/2010/main" val="3415390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64B3F-A1D5-B547-7CB7-8395B7D2E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4AC0C3CA-407D-F4D5-FD8C-92AE530786C5}"/>
              </a:ext>
            </a:extLst>
          </p:cNvPr>
          <p:cNvSpPr/>
          <p:nvPr/>
        </p:nvSpPr>
        <p:spPr>
          <a:xfrm>
            <a:off x="1391191" y="1941190"/>
            <a:ext cx="3291840" cy="4375356"/>
          </a:xfrm>
          <a:prstGeom prst="rect">
            <a:avLst/>
          </a:prstGeom>
          <a:solidFill>
            <a:schemeClr val="bg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7A88A5-82F7-21B7-4D00-E5D090EA5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  <a:latin typeface="+mn-lt"/>
              </a:rPr>
              <a:t>Enterprise Architecture provides the rules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C67084-4113-9B22-F908-08444B04FEA5}"/>
              </a:ext>
            </a:extLst>
          </p:cNvPr>
          <p:cNvSpPr txBox="1"/>
          <p:nvPr/>
        </p:nvSpPr>
        <p:spPr>
          <a:xfrm>
            <a:off x="5055222" y="2031930"/>
            <a:ext cx="5635083" cy="2031325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  <a:prstDash val="sysDot"/>
          </a:ln>
          <a:effectLst/>
        </p:spPr>
        <p:txBody>
          <a:bodyPr wrap="square" rtlCol="0">
            <a:spAutoFit/>
          </a:bodyPr>
          <a:lstStyle/>
          <a:p>
            <a:pPr>
              <a:spcBef>
                <a:spcPts val="200"/>
              </a:spcBef>
            </a:pPr>
            <a:r>
              <a:rPr lang="en-CA" dirty="0"/>
              <a:t> </a:t>
            </a:r>
            <a:r>
              <a:rPr lang="en-CA" sz="1400" dirty="0"/>
              <a:t>{</a:t>
            </a:r>
          </a:p>
          <a:p>
            <a:pPr>
              <a:spcBef>
                <a:spcPts val="200"/>
              </a:spcBef>
            </a:pPr>
            <a:r>
              <a:rPr lang="en-CA" sz="1400" dirty="0"/>
              <a:t>    "id": "MO-3",</a:t>
            </a:r>
          </a:p>
          <a:p>
            <a:pPr>
              <a:spcBef>
                <a:spcPts val="200"/>
              </a:spcBef>
            </a:pPr>
            <a:r>
              <a:rPr lang="en-CA" sz="1400" dirty="0"/>
              <a:t>    "name": "Modern Architecture Assessment",</a:t>
            </a:r>
          </a:p>
          <a:p>
            <a:pPr>
              <a:spcBef>
                <a:spcPts val="200"/>
              </a:spcBef>
            </a:pPr>
            <a:r>
              <a:rPr lang="en-US" sz="1400" dirty="0"/>
              <a:t>    "description": "Score the state of the architecture.",</a:t>
            </a:r>
          </a:p>
          <a:p>
            <a:pPr>
              <a:spcBef>
                <a:spcPts val="200"/>
              </a:spcBef>
            </a:pPr>
            <a:r>
              <a:rPr lang="en-US" sz="1400" dirty="0"/>
              <a:t>    "condition": "[(layer is modernization)] AND [(architecture is good) OR (architecture is excellent)]  ;",</a:t>
            </a:r>
          </a:p>
          <a:p>
            <a:pPr>
              <a:spcBef>
                <a:spcPts val="200"/>
              </a:spcBef>
            </a:pPr>
            <a:r>
              <a:rPr lang="en-US" sz="1400" dirty="0"/>
              <a:t>    "action": "ADD 1 to </a:t>
            </a:r>
            <a:r>
              <a:rPr lang="en-US" sz="1400" dirty="0" err="1"/>
              <a:t>modernization_score</a:t>
            </a:r>
            <a:r>
              <a:rPr lang="en-US" sz="1400" dirty="0"/>
              <a:t>"</a:t>
            </a:r>
          </a:p>
          <a:p>
            <a:pPr>
              <a:spcBef>
                <a:spcPts val="200"/>
              </a:spcBef>
            </a:pPr>
            <a:r>
              <a:rPr lang="en-CA" sz="1400" dirty="0"/>
              <a:t>  },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51ACCF-162F-04E1-21D6-C4ED668DAB7A}"/>
              </a:ext>
            </a:extLst>
          </p:cNvPr>
          <p:cNvSpPr txBox="1"/>
          <p:nvPr/>
        </p:nvSpPr>
        <p:spPr>
          <a:xfrm>
            <a:off x="5055222" y="4292511"/>
            <a:ext cx="6999247" cy="1969770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  <a:prstDash val="sysDash"/>
          </a:ln>
          <a:effectLst/>
        </p:spPr>
        <p:txBody>
          <a:bodyPr wrap="square" rtlCol="0">
            <a:spAutoFit/>
          </a:bodyPr>
          <a:lstStyle/>
          <a:p>
            <a:pPr>
              <a:spcBef>
                <a:spcPts val="200"/>
              </a:spcBef>
            </a:pPr>
            <a:r>
              <a:rPr lang="en-CA" sz="1400" dirty="0"/>
              <a:t> {</a:t>
            </a:r>
          </a:p>
          <a:p>
            <a:pPr>
              <a:spcBef>
                <a:spcPts val="200"/>
              </a:spcBef>
            </a:pPr>
            <a:r>
              <a:rPr lang="en-CA" sz="1400" dirty="0"/>
              <a:t>    "id": "MO-5",</a:t>
            </a:r>
          </a:p>
          <a:p>
            <a:pPr>
              <a:spcBef>
                <a:spcPts val="200"/>
              </a:spcBef>
            </a:pPr>
            <a:r>
              <a:rPr lang="en-CA" sz="1400" dirty="0"/>
              <a:t>    "name": "Modernization Assessment",</a:t>
            </a:r>
          </a:p>
          <a:p>
            <a:pPr>
              <a:spcBef>
                <a:spcPts val="200"/>
              </a:spcBef>
            </a:pPr>
            <a:r>
              <a:rPr lang="en-US" sz="1400" dirty="0"/>
              <a:t>    "description": "Assess the modernization value based on the score.",</a:t>
            </a:r>
          </a:p>
          <a:p>
            <a:pPr>
              <a:spcBef>
                <a:spcPts val="200"/>
              </a:spcBef>
            </a:pPr>
            <a:r>
              <a:rPr lang="en-US" sz="1400" dirty="0"/>
              <a:t>    "condition": "[(layer is modernization)] AND [(</a:t>
            </a:r>
            <a:r>
              <a:rPr lang="en-US" sz="1400" dirty="0" err="1"/>
              <a:t>modernization_score</a:t>
            </a:r>
            <a:r>
              <a:rPr lang="en-US" sz="1400" dirty="0"/>
              <a:t> </a:t>
            </a:r>
            <a:r>
              <a:rPr lang="en-US" sz="1400" dirty="0" err="1"/>
              <a:t>is_greater_than</a:t>
            </a:r>
            <a:r>
              <a:rPr lang="en-US" sz="1400" dirty="0"/>
              <a:t> 2) OR [(</a:t>
            </a:r>
            <a:r>
              <a:rPr lang="en-US" sz="1400" dirty="0" err="1"/>
              <a:t>modernization_score</a:t>
            </a:r>
            <a:r>
              <a:rPr lang="en-US" sz="1400" dirty="0"/>
              <a:t> is 2) AND (architecture is excellent)]] ;",</a:t>
            </a:r>
          </a:p>
          <a:p>
            <a:pPr>
              <a:spcBef>
                <a:spcPts val="200"/>
              </a:spcBef>
            </a:pPr>
            <a:r>
              <a:rPr lang="en-US" sz="1400" dirty="0"/>
              <a:t>    "action": "SET modernization to High"</a:t>
            </a:r>
          </a:p>
          <a:p>
            <a:pPr>
              <a:spcBef>
                <a:spcPts val="200"/>
              </a:spcBef>
            </a:pPr>
            <a:r>
              <a:rPr lang="en-CA" sz="1400" dirty="0"/>
              <a:t>  },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C4FA25E-5E17-AB11-69ED-FF3B22B030DC}"/>
              </a:ext>
            </a:extLst>
          </p:cNvPr>
          <p:cNvSpPr/>
          <p:nvPr/>
        </p:nvSpPr>
        <p:spPr>
          <a:xfrm>
            <a:off x="1907177" y="2129245"/>
            <a:ext cx="1933303" cy="992777"/>
          </a:xfrm>
          <a:prstGeom prst="round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ysClr val="windowText" lastClr="000000"/>
                </a:solidFill>
              </a:rPr>
              <a:t>MO-3: Modern Architecture Assessment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44F8EF1-B512-F93E-E466-5EF19480E02F}"/>
              </a:ext>
            </a:extLst>
          </p:cNvPr>
          <p:cNvSpPr/>
          <p:nvPr/>
        </p:nvSpPr>
        <p:spPr>
          <a:xfrm>
            <a:off x="1907176" y="3624942"/>
            <a:ext cx="1933303" cy="992777"/>
          </a:xfrm>
          <a:prstGeom prst="round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ysClr val="windowText" lastClr="000000"/>
                </a:solidFill>
              </a:rPr>
              <a:t>MO-4: Cloud Readiness Assessment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E64A475-A121-2E45-8E01-7C7399EB60A6}"/>
              </a:ext>
            </a:extLst>
          </p:cNvPr>
          <p:cNvSpPr/>
          <p:nvPr/>
        </p:nvSpPr>
        <p:spPr>
          <a:xfrm>
            <a:off x="1907175" y="5120639"/>
            <a:ext cx="1933303" cy="992777"/>
          </a:xfrm>
          <a:prstGeom prst="round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ysClr val="windowText" lastClr="000000"/>
                </a:solidFill>
              </a:rPr>
              <a:t>MO-5: Modernization Assessment</a:t>
            </a: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30CE74B6-6671-A9B5-E8B4-BFACA166762E}"/>
              </a:ext>
            </a:extLst>
          </p:cNvPr>
          <p:cNvSpPr/>
          <p:nvPr/>
        </p:nvSpPr>
        <p:spPr>
          <a:xfrm>
            <a:off x="2710540" y="4650376"/>
            <a:ext cx="326571" cy="437606"/>
          </a:xfrm>
          <a:prstGeom prst="downArrow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E0BCF3F7-34A9-7E4C-7C15-E505D4A581C2}"/>
              </a:ext>
            </a:extLst>
          </p:cNvPr>
          <p:cNvSpPr/>
          <p:nvPr/>
        </p:nvSpPr>
        <p:spPr>
          <a:xfrm>
            <a:off x="2710540" y="3154679"/>
            <a:ext cx="326571" cy="437606"/>
          </a:xfrm>
          <a:prstGeom prst="downArrow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E64DE57-6F7F-3300-F8B1-C82A2DE65C75}"/>
              </a:ext>
            </a:extLst>
          </p:cNvPr>
          <p:cNvCxnSpPr/>
          <p:nvPr/>
        </p:nvCxnSpPr>
        <p:spPr>
          <a:xfrm flipV="1">
            <a:off x="3840478" y="2031930"/>
            <a:ext cx="1214744" cy="97315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65195B8-61A6-2F02-3DC3-B24A0DFD5DB9}"/>
              </a:ext>
            </a:extLst>
          </p:cNvPr>
          <p:cNvCxnSpPr>
            <a:cxnSpLocks/>
          </p:cNvCxnSpPr>
          <p:nvPr/>
        </p:nvCxnSpPr>
        <p:spPr>
          <a:xfrm>
            <a:off x="3840478" y="3047592"/>
            <a:ext cx="1214744" cy="1015663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313614D-FA47-A1A9-7B30-4FC1C056D9CB}"/>
              </a:ext>
            </a:extLst>
          </p:cNvPr>
          <p:cNvCxnSpPr>
            <a:cxnSpLocks/>
          </p:cNvCxnSpPr>
          <p:nvPr/>
        </p:nvCxnSpPr>
        <p:spPr>
          <a:xfrm flipV="1">
            <a:off x="3807767" y="4266057"/>
            <a:ext cx="1247454" cy="870582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7B17B41-A3DE-E7D8-6E6E-7DA0906C75E2}"/>
              </a:ext>
            </a:extLst>
          </p:cNvPr>
          <p:cNvCxnSpPr>
            <a:cxnSpLocks/>
          </p:cNvCxnSpPr>
          <p:nvPr/>
        </p:nvCxnSpPr>
        <p:spPr>
          <a:xfrm>
            <a:off x="3846957" y="6113416"/>
            <a:ext cx="1208264" cy="148865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7471403-25A4-CB01-18D6-E5670ADC170D}"/>
              </a:ext>
            </a:extLst>
          </p:cNvPr>
          <p:cNvGrpSpPr/>
          <p:nvPr/>
        </p:nvGrpSpPr>
        <p:grpSpPr>
          <a:xfrm>
            <a:off x="2710540" y="1986561"/>
            <a:ext cx="396240" cy="107087"/>
            <a:chOff x="222069" y="3134677"/>
            <a:chExt cx="396240" cy="107087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E6F04BC-49F7-CE9F-36F4-EC15E1561C54}"/>
                </a:ext>
              </a:extLst>
            </p:cNvPr>
            <p:cNvSpPr/>
            <p:nvPr/>
          </p:nvSpPr>
          <p:spPr>
            <a:xfrm>
              <a:off x="222069" y="3134677"/>
              <a:ext cx="91440" cy="107087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143427F2-8789-0E7B-C249-9C3FED6EF03C}"/>
                </a:ext>
              </a:extLst>
            </p:cNvPr>
            <p:cNvSpPr/>
            <p:nvPr/>
          </p:nvSpPr>
          <p:spPr>
            <a:xfrm>
              <a:off x="374469" y="3134677"/>
              <a:ext cx="91440" cy="107087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C6DA53A-79D5-FFC5-23AB-0749EB71A2B9}"/>
                </a:ext>
              </a:extLst>
            </p:cNvPr>
            <p:cNvSpPr/>
            <p:nvPr/>
          </p:nvSpPr>
          <p:spPr>
            <a:xfrm>
              <a:off x="526869" y="3134677"/>
              <a:ext cx="91440" cy="107087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6B22DBF-4B39-A16A-6D6B-63224419DB15}"/>
              </a:ext>
            </a:extLst>
          </p:cNvPr>
          <p:cNvGrpSpPr/>
          <p:nvPr/>
        </p:nvGrpSpPr>
        <p:grpSpPr>
          <a:xfrm>
            <a:off x="2710540" y="6174501"/>
            <a:ext cx="396240" cy="107087"/>
            <a:chOff x="222069" y="3134677"/>
            <a:chExt cx="396240" cy="107087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5EB46383-6339-5F9A-5516-383C5F25B8C5}"/>
                </a:ext>
              </a:extLst>
            </p:cNvPr>
            <p:cNvSpPr/>
            <p:nvPr/>
          </p:nvSpPr>
          <p:spPr>
            <a:xfrm>
              <a:off x="222069" y="3134677"/>
              <a:ext cx="91440" cy="107087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114CB33F-07D7-ADB3-A7FF-D8FC7B1F3A7F}"/>
                </a:ext>
              </a:extLst>
            </p:cNvPr>
            <p:cNvSpPr/>
            <p:nvPr/>
          </p:nvSpPr>
          <p:spPr>
            <a:xfrm>
              <a:off x="374469" y="3134677"/>
              <a:ext cx="91440" cy="107087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E14BDABC-075A-FDD2-6B5A-7373B5F2CDF0}"/>
                </a:ext>
              </a:extLst>
            </p:cNvPr>
            <p:cNvSpPr/>
            <p:nvPr/>
          </p:nvSpPr>
          <p:spPr>
            <a:xfrm>
              <a:off x="526869" y="3134677"/>
              <a:ext cx="91440" cy="107087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F925F93F-5F99-8AC7-F762-F19F3005602F}"/>
              </a:ext>
            </a:extLst>
          </p:cNvPr>
          <p:cNvSpPr txBox="1"/>
          <p:nvPr/>
        </p:nvSpPr>
        <p:spPr>
          <a:xfrm>
            <a:off x="10117032" y="2080587"/>
            <a:ext cx="1367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JSON Format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0A2BAE3-9B28-E451-B188-4B6779678DCF}"/>
              </a:ext>
            </a:extLst>
          </p:cNvPr>
          <p:cNvCxnSpPr>
            <a:cxnSpLocks/>
          </p:cNvCxnSpPr>
          <p:nvPr/>
        </p:nvCxnSpPr>
        <p:spPr>
          <a:xfrm>
            <a:off x="1344490" y="3325929"/>
            <a:ext cx="524107" cy="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95C710E8-7E4C-82C9-FC1D-C3536E3E9439}"/>
              </a:ext>
            </a:extLst>
          </p:cNvPr>
          <p:cNvSpPr txBox="1"/>
          <p:nvPr/>
        </p:nvSpPr>
        <p:spPr>
          <a:xfrm flipH="1">
            <a:off x="339864" y="1999797"/>
            <a:ext cx="22650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>
                <a:solidFill>
                  <a:srgbClr val="0070C0"/>
                </a:solidFill>
              </a:rPr>
              <a:t>Modernization </a:t>
            </a:r>
          </a:p>
          <a:p>
            <a:r>
              <a:rPr lang="en-CA" sz="1600" b="1" dirty="0">
                <a:solidFill>
                  <a:srgbClr val="0070C0"/>
                </a:solidFill>
              </a:rPr>
              <a:t>Layer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5470B41-B796-62F7-6104-1CAC11339C3A}"/>
              </a:ext>
            </a:extLst>
          </p:cNvPr>
          <p:cNvSpPr txBox="1"/>
          <p:nvPr/>
        </p:nvSpPr>
        <p:spPr>
          <a:xfrm flipH="1">
            <a:off x="211948" y="3047592"/>
            <a:ext cx="113254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Rules follow a sequential</a:t>
            </a:r>
          </a:p>
          <a:p>
            <a:r>
              <a:rPr lang="en-CA" sz="1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order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6E3B30F-B36A-56D1-7E10-9EEE2345DD48}"/>
              </a:ext>
            </a:extLst>
          </p:cNvPr>
          <p:cNvSpPr txBox="1"/>
          <p:nvPr/>
        </p:nvSpPr>
        <p:spPr>
          <a:xfrm flipH="1">
            <a:off x="211948" y="4266057"/>
            <a:ext cx="117924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Rules can also identify data assessment in-consistencies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E90B3C8D-CEDF-AAE4-1E2F-A4420FD919F0}"/>
              </a:ext>
            </a:extLst>
          </p:cNvPr>
          <p:cNvCxnSpPr>
            <a:cxnSpLocks/>
          </p:cNvCxnSpPr>
          <p:nvPr/>
        </p:nvCxnSpPr>
        <p:spPr>
          <a:xfrm>
            <a:off x="1236137" y="4933938"/>
            <a:ext cx="524107" cy="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DFFC2BF9-431F-B284-5957-F62545C1A767}"/>
              </a:ext>
            </a:extLst>
          </p:cNvPr>
          <p:cNvSpPr txBox="1"/>
          <p:nvPr/>
        </p:nvSpPr>
        <p:spPr>
          <a:xfrm flipH="1">
            <a:off x="10800809" y="2565489"/>
            <a:ext cx="11325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Score Rule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220C19E-F4D0-460A-4492-1510368E16D1}"/>
              </a:ext>
            </a:extLst>
          </p:cNvPr>
          <p:cNvSpPr txBox="1"/>
          <p:nvPr/>
        </p:nvSpPr>
        <p:spPr>
          <a:xfrm flipH="1">
            <a:off x="10848329" y="3583176"/>
            <a:ext cx="11325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Assess Rule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ACFA054E-4844-AAC6-8E2E-59065BF177EC}"/>
              </a:ext>
            </a:extLst>
          </p:cNvPr>
          <p:cNvCxnSpPr>
            <a:cxnSpLocks/>
          </p:cNvCxnSpPr>
          <p:nvPr/>
        </p:nvCxnSpPr>
        <p:spPr>
          <a:xfrm flipH="1">
            <a:off x="10453441" y="3869164"/>
            <a:ext cx="544759" cy="560706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DF729E90-0C9D-DC39-DB29-611D45FCD999}"/>
              </a:ext>
            </a:extLst>
          </p:cNvPr>
          <p:cNvCxnSpPr>
            <a:cxnSpLocks/>
          </p:cNvCxnSpPr>
          <p:nvPr/>
        </p:nvCxnSpPr>
        <p:spPr>
          <a:xfrm flipH="1">
            <a:off x="10160000" y="2735906"/>
            <a:ext cx="567400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17693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F3EFD-A273-B12E-508B-C764D3FF3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>
            <a:extLst>
              <a:ext uri="{FF2B5EF4-FFF2-40B4-BE49-F238E27FC236}">
                <a16:creationId xmlns:a16="http://schemas.microsoft.com/office/drawing/2014/main" id="{ABC14D52-90FC-A189-49CD-2E2CD9D000FE}"/>
              </a:ext>
            </a:extLst>
          </p:cNvPr>
          <p:cNvSpPr/>
          <p:nvPr/>
        </p:nvSpPr>
        <p:spPr>
          <a:xfrm>
            <a:off x="746279" y="2074266"/>
            <a:ext cx="3468769" cy="3947531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2671456-884D-C802-2F17-B0E9BF33A78C}"/>
              </a:ext>
            </a:extLst>
          </p:cNvPr>
          <p:cNvSpPr/>
          <p:nvPr/>
        </p:nvSpPr>
        <p:spPr>
          <a:xfrm>
            <a:off x="4538546" y="2056754"/>
            <a:ext cx="7214839" cy="3947531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33D6A9-B848-323B-9E4E-B5D0192E2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  <a:latin typeface="+mn-lt"/>
              </a:rPr>
              <a:t>Intelligent Agents provide the architecture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7ECF815-469F-ED55-E6FE-06368E6B2E6C}"/>
              </a:ext>
            </a:extLst>
          </p:cNvPr>
          <p:cNvSpPr/>
          <p:nvPr/>
        </p:nvSpPr>
        <p:spPr>
          <a:xfrm>
            <a:off x="6887221" y="3617106"/>
            <a:ext cx="1750423" cy="894806"/>
          </a:xfrm>
          <a:prstGeom prst="roundRect">
            <a:avLst/>
          </a:prstGeom>
          <a:solidFill>
            <a:schemeClr val="bg1">
              <a:lumMod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ysClr val="windowText" lastClr="000000"/>
                </a:solidFill>
              </a:rPr>
              <a:t>Rules Engine</a:t>
            </a:r>
          </a:p>
        </p:txBody>
      </p:sp>
      <p:sp>
        <p:nvSpPr>
          <p:cNvPr id="7" name="Cylinder 6">
            <a:extLst>
              <a:ext uri="{FF2B5EF4-FFF2-40B4-BE49-F238E27FC236}">
                <a16:creationId xmlns:a16="http://schemas.microsoft.com/office/drawing/2014/main" id="{26E4F77C-BE52-DFA9-981C-8C40FA183B5F}"/>
              </a:ext>
            </a:extLst>
          </p:cNvPr>
          <p:cNvSpPr/>
          <p:nvPr/>
        </p:nvSpPr>
        <p:spPr>
          <a:xfrm>
            <a:off x="9005450" y="3449409"/>
            <a:ext cx="914400" cy="1216152"/>
          </a:xfrm>
          <a:prstGeom prst="can">
            <a:avLst/>
          </a:prstGeom>
          <a:solidFill>
            <a:srgbClr val="FFFF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 b="1" dirty="0">
                <a:solidFill>
                  <a:sysClr val="windowText" lastClr="000000"/>
                </a:solidFill>
              </a:rPr>
              <a:t>Knowledge Base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D28F52C-B7B0-7D7E-FAAD-DFE9A23AFE47}"/>
              </a:ext>
            </a:extLst>
          </p:cNvPr>
          <p:cNvSpPr/>
          <p:nvPr/>
        </p:nvSpPr>
        <p:spPr>
          <a:xfrm>
            <a:off x="4763163" y="2441807"/>
            <a:ext cx="1750423" cy="894806"/>
          </a:xfrm>
          <a:prstGeom prst="roundRect">
            <a:avLst/>
          </a:prstGeom>
          <a:solidFill>
            <a:schemeClr val="bg1">
              <a:lumMod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ysClr val="windowText" lastClr="000000"/>
                </a:solidFill>
              </a:rPr>
              <a:t>Perception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D445AA9-CE24-361C-E782-A2E45C2C44C9}"/>
              </a:ext>
            </a:extLst>
          </p:cNvPr>
          <p:cNvSpPr/>
          <p:nvPr/>
        </p:nvSpPr>
        <p:spPr>
          <a:xfrm>
            <a:off x="4767038" y="4811010"/>
            <a:ext cx="1750423" cy="894806"/>
          </a:xfrm>
          <a:prstGeom prst="roundRect">
            <a:avLst/>
          </a:prstGeom>
          <a:solidFill>
            <a:schemeClr val="bg1">
              <a:lumMod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ysClr val="windowText" lastClr="000000"/>
                </a:solidFill>
              </a:rPr>
              <a:t>Actions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FC55F160-A012-D7E8-A03E-23C2A31FD83A}"/>
              </a:ext>
            </a:extLst>
          </p:cNvPr>
          <p:cNvSpPr/>
          <p:nvPr/>
        </p:nvSpPr>
        <p:spPr>
          <a:xfrm>
            <a:off x="4767039" y="3617168"/>
            <a:ext cx="1750423" cy="894806"/>
          </a:xfrm>
          <a:prstGeom prst="roundRect">
            <a:avLst/>
          </a:prstGeom>
          <a:solidFill>
            <a:schemeClr val="bg1">
              <a:lumMod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ysClr val="windowText" lastClr="000000"/>
                </a:solidFill>
              </a:rPr>
              <a:t>Controller</a:t>
            </a:r>
          </a:p>
        </p:txBody>
      </p:sp>
      <p:sp>
        <p:nvSpPr>
          <p:cNvPr id="57" name="Flowchart: Multidocument 56">
            <a:extLst>
              <a:ext uri="{FF2B5EF4-FFF2-40B4-BE49-F238E27FC236}">
                <a16:creationId xmlns:a16="http://schemas.microsoft.com/office/drawing/2014/main" id="{87CE691F-6223-C732-68CE-FF1273F43240}"/>
              </a:ext>
            </a:extLst>
          </p:cNvPr>
          <p:cNvSpPr/>
          <p:nvPr/>
        </p:nvSpPr>
        <p:spPr>
          <a:xfrm>
            <a:off x="1159405" y="5103939"/>
            <a:ext cx="1060704" cy="758952"/>
          </a:xfrm>
          <a:prstGeom prst="flowChartMultidocumen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E17EACD-6AC2-D7DA-FD9E-AC5DCE4404C1}"/>
              </a:ext>
            </a:extLst>
          </p:cNvPr>
          <p:cNvSpPr txBox="1"/>
          <p:nvPr/>
        </p:nvSpPr>
        <p:spPr>
          <a:xfrm>
            <a:off x="1246584" y="5336484"/>
            <a:ext cx="724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Plans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AFF0F22-1809-8DD1-4855-0BBC9C2EE653}"/>
              </a:ext>
            </a:extLst>
          </p:cNvPr>
          <p:cNvSpPr txBox="1"/>
          <p:nvPr/>
        </p:nvSpPr>
        <p:spPr>
          <a:xfrm>
            <a:off x="880072" y="2450548"/>
            <a:ext cx="3138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Application Assessments (data)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E1FC305-95AB-B950-81FC-57CC506505DF}"/>
              </a:ext>
            </a:extLst>
          </p:cNvPr>
          <p:cNvSpPr txBox="1"/>
          <p:nvPr/>
        </p:nvSpPr>
        <p:spPr>
          <a:xfrm>
            <a:off x="2197152" y="4718018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User Queries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C056ECB-A720-7EC4-CCF6-BDDDFDE5047E}"/>
              </a:ext>
            </a:extLst>
          </p:cNvPr>
          <p:cNvSpPr txBox="1"/>
          <p:nvPr/>
        </p:nvSpPr>
        <p:spPr>
          <a:xfrm flipH="1">
            <a:off x="4509707" y="2048973"/>
            <a:ext cx="22650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>
                <a:solidFill>
                  <a:srgbClr val="0070C0"/>
                </a:solidFill>
              </a:rPr>
              <a:t>Agent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962AC60-10E3-E9D1-46CB-C4A88ABC235E}"/>
              </a:ext>
            </a:extLst>
          </p:cNvPr>
          <p:cNvSpPr txBox="1"/>
          <p:nvPr/>
        </p:nvSpPr>
        <p:spPr>
          <a:xfrm flipH="1">
            <a:off x="794991" y="2043062"/>
            <a:ext cx="22650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>
                <a:solidFill>
                  <a:srgbClr val="0070C0"/>
                </a:solidFill>
              </a:rPr>
              <a:t>Environment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6EB5AC5C-C563-5FE2-E7C7-8252DC153A68}"/>
              </a:ext>
            </a:extLst>
          </p:cNvPr>
          <p:cNvCxnSpPr>
            <a:cxnSpLocks/>
            <a:stCxn id="8" idx="2"/>
            <a:endCxn id="55" idx="0"/>
          </p:cNvCxnSpPr>
          <p:nvPr/>
        </p:nvCxnSpPr>
        <p:spPr>
          <a:xfrm>
            <a:off x="5638375" y="3336613"/>
            <a:ext cx="3876" cy="2805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72F5C3AC-DC53-C2CD-6239-EBA8FDE917C6}"/>
              </a:ext>
            </a:extLst>
          </p:cNvPr>
          <p:cNvCxnSpPr>
            <a:cxnSpLocks/>
            <a:stCxn id="55" idx="3"/>
            <a:endCxn id="6" idx="1"/>
          </p:cNvCxnSpPr>
          <p:nvPr/>
        </p:nvCxnSpPr>
        <p:spPr>
          <a:xfrm flipV="1">
            <a:off x="6517462" y="4064509"/>
            <a:ext cx="369759" cy="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3EFEBD90-A0AC-876B-F8EC-A46C670C98C1}"/>
              </a:ext>
            </a:extLst>
          </p:cNvPr>
          <p:cNvCxnSpPr>
            <a:cxnSpLocks/>
            <a:stCxn id="6" idx="3"/>
            <a:endCxn id="7" idx="2"/>
          </p:cNvCxnSpPr>
          <p:nvPr/>
        </p:nvCxnSpPr>
        <p:spPr>
          <a:xfrm flipV="1">
            <a:off x="8637644" y="4057485"/>
            <a:ext cx="367806" cy="7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90132F58-15B1-A7A8-2844-D425119CDDB9}"/>
              </a:ext>
            </a:extLst>
          </p:cNvPr>
          <p:cNvCxnSpPr>
            <a:cxnSpLocks/>
            <a:stCxn id="6" idx="2"/>
          </p:cNvCxnSpPr>
          <p:nvPr/>
        </p:nvCxnSpPr>
        <p:spPr>
          <a:xfrm rot="5400000">
            <a:off x="6741161" y="4319902"/>
            <a:ext cx="829263" cy="121328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6364F155-C5DB-605B-5104-EC42AA120A25}"/>
              </a:ext>
            </a:extLst>
          </p:cNvPr>
          <p:cNvCxnSpPr>
            <a:cxnSpLocks/>
          </p:cNvCxnSpPr>
          <p:nvPr/>
        </p:nvCxnSpPr>
        <p:spPr>
          <a:xfrm flipH="1" flipV="1">
            <a:off x="2572512" y="5461613"/>
            <a:ext cx="1966034" cy="101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504E8891-4448-B59E-7A6D-0FFC190D460B}"/>
              </a:ext>
            </a:extLst>
          </p:cNvPr>
          <p:cNvCxnSpPr>
            <a:cxnSpLocks/>
          </p:cNvCxnSpPr>
          <p:nvPr/>
        </p:nvCxnSpPr>
        <p:spPr>
          <a:xfrm>
            <a:off x="3458279" y="4454872"/>
            <a:ext cx="10169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7" name="Picture 86" descr="A screenshot of a number&#10;&#10;AI-generated content may be incorrect.">
            <a:extLst>
              <a:ext uri="{FF2B5EF4-FFF2-40B4-BE49-F238E27FC236}">
                <a16:creationId xmlns:a16="http://schemas.microsoft.com/office/drawing/2014/main" id="{638B178E-8BF2-470B-166D-1922015B0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407" y="2816401"/>
            <a:ext cx="2818000" cy="520212"/>
          </a:xfrm>
          <a:prstGeom prst="rect">
            <a:avLst/>
          </a:prstGeom>
        </p:spPr>
      </p:pic>
      <p:sp>
        <p:nvSpPr>
          <p:cNvPr id="91" name="Thought Bubble: Cloud 90">
            <a:extLst>
              <a:ext uri="{FF2B5EF4-FFF2-40B4-BE49-F238E27FC236}">
                <a16:creationId xmlns:a16="http://schemas.microsoft.com/office/drawing/2014/main" id="{E2BAF1C7-2C0C-6045-C134-8B1015BC39C4}"/>
              </a:ext>
            </a:extLst>
          </p:cNvPr>
          <p:cNvSpPr/>
          <p:nvPr/>
        </p:nvSpPr>
        <p:spPr>
          <a:xfrm>
            <a:off x="2605055" y="4206633"/>
            <a:ext cx="644705" cy="489428"/>
          </a:xfrm>
          <a:prstGeom prst="cloudCallou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??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930441D-F6E4-D0AA-ABB2-DAA112EA28E1}"/>
              </a:ext>
            </a:extLst>
          </p:cNvPr>
          <p:cNvGrpSpPr/>
          <p:nvPr/>
        </p:nvGrpSpPr>
        <p:grpSpPr>
          <a:xfrm>
            <a:off x="10254004" y="4295712"/>
            <a:ext cx="1202149" cy="715297"/>
            <a:chOff x="718091" y="2713703"/>
            <a:chExt cx="3698434" cy="1703109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70F74E5-FD4B-1694-95F8-BD767F6E4F5F}"/>
                </a:ext>
              </a:extLst>
            </p:cNvPr>
            <p:cNvSpPr/>
            <p:nvPr/>
          </p:nvSpPr>
          <p:spPr>
            <a:xfrm>
              <a:off x="1537454" y="3383929"/>
              <a:ext cx="423746" cy="301083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1972131-DA49-A3B6-F456-7D6D75EE5E22}"/>
                </a:ext>
              </a:extLst>
            </p:cNvPr>
            <p:cNvSpPr/>
            <p:nvPr/>
          </p:nvSpPr>
          <p:spPr>
            <a:xfrm>
              <a:off x="718091" y="4115729"/>
              <a:ext cx="423746" cy="301083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3328D0CB-5D36-44BA-2E8B-8F6B43BAC9F1}"/>
                </a:ext>
              </a:extLst>
            </p:cNvPr>
            <p:cNvSpPr/>
            <p:nvPr/>
          </p:nvSpPr>
          <p:spPr>
            <a:xfrm>
              <a:off x="3480731" y="3383930"/>
              <a:ext cx="423746" cy="301083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234CCC9-5670-0D70-B3FC-4131B68C638D}"/>
                </a:ext>
              </a:extLst>
            </p:cNvPr>
            <p:cNvSpPr/>
            <p:nvPr/>
          </p:nvSpPr>
          <p:spPr>
            <a:xfrm>
              <a:off x="2885821" y="4115729"/>
              <a:ext cx="423746" cy="301083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3864E4E0-C68C-EECC-C256-9C9E6563D80F}"/>
                </a:ext>
              </a:extLst>
            </p:cNvPr>
            <p:cNvSpPr/>
            <p:nvPr/>
          </p:nvSpPr>
          <p:spPr>
            <a:xfrm>
              <a:off x="1890573" y="4115729"/>
              <a:ext cx="423746" cy="301083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60A6CB8-0C4F-9798-72FE-D41F1772913F}"/>
                </a:ext>
              </a:extLst>
            </p:cNvPr>
            <p:cNvSpPr/>
            <p:nvPr/>
          </p:nvSpPr>
          <p:spPr>
            <a:xfrm>
              <a:off x="3992779" y="4115729"/>
              <a:ext cx="423746" cy="301083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8D89B3B1-3A07-4AD2-2FF2-D2810AAD8C55}"/>
                </a:ext>
              </a:extLst>
            </p:cNvPr>
            <p:cNvSpPr/>
            <p:nvPr/>
          </p:nvSpPr>
          <p:spPr>
            <a:xfrm>
              <a:off x="2434013" y="2713703"/>
              <a:ext cx="423746" cy="301083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D6361F81-1742-5453-309F-68778ACFF90B}"/>
                </a:ext>
              </a:extLst>
            </p:cNvPr>
            <p:cNvCxnSpPr>
              <a:cxnSpLocks/>
              <a:stCxn id="17" idx="3"/>
              <a:endCxn id="11" idx="7"/>
            </p:cNvCxnSpPr>
            <p:nvPr/>
          </p:nvCxnSpPr>
          <p:spPr>
            <a:xfrm flipH="1">
              <a:off x="1899144" y="2970693"/>
              <a:ext cx="596925" cy="45732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8C50CABD-3D20-F732-D932-D6AE4E28A12F}"/>
                </a:ext>
              </a:extLst>
            </p:cNvPr>
            <p:cNvCxnSpPr>
              <a:cxnSpLocks/>
              <a:stCxn id="11" idx="3"/>
            </p:cNvCxnSpPr>
            <p:nvPr/>
          </p:nvCxnSpPr>
          <p:spPr>
            <a:xfrm flipH="1">
              <a:off x="983263" y="3640919"/>
              <a:ext cx="616247" cy="48983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D629069C-9D0B-8818-3536-29735A5CF51C}"/>
                </a:ext>
              </a:extLst>
            </p:cNvPr>
            <p:cNvCxnSpPr>
              <a:cxnSpLocks/>
              <a:stCxn id="17" idx="5"/>
              <a:endCxn id="13" idx="0"/>
            </p:cNvCxnSpPr>
            <p:nvPr/>
          </p:nvCxnSpPr>
          <p:spPr>
            <a:xfrm>
              <a:off x="2795703" y="2970693"/>
              <a:ext cx="896901" cy="41323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772FB05B-695A-CA8B-16E9-28F4F8560F20}"/>
                </a:ext>
              </a:extLst>
            </p:cNvPr>
            <p:cNvCxnSpPr>
              <a:cxnSpLocks/>
              <a:stCxn id="13" idx="5"/>
              <a:endCxn id="16" idx="0"/>
            </p:cNvCxnSpPr>
            <p:nvPr/>
          </p:nvCxnSpPr>
          <p:spPr>
            <a:xfrm>
              <a:off x="3842421" y="3640920"/>
              <a:ext cx="362231" cy="4748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68CFB23D-950C-C081-E070-A43370A66164}"/>
                </a:ext>
              </a:extLst>
            </p:cNvPr>
            <p:cNvCxnSpPr>
              <a:cxnSpLocks/>
              <a:stCxn id="11" idx="5"/>
              <a:endCxn id="15" idx="0"/>
            </p:cNvCxnSpPr>
            <p:nvPr/>
          </p:nvCxnSpPr>
          <p:spPr>
            <a:xfrm>
              <a:off x="1899144" y="3640919"/>
              <a:ext cx="203302" cy="47481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B28908D8-77C4-D02D-5F7C-363A2C3A7DF8}"/>
                </a:ext>
              </a:extLst>
            </p:cNvPr>
            <p:cNvCxnSpPr>
              <a:cxnSpLocks/>
              <a:stCxn id="13" idx="3"/>
              <a:endCxn id="14" idx="0"/>
            </p:cNvCxnSpPr>
            <p:nvPr/>
          </p:nvCxnSpPr>
          <p:spPr>
            <a:xfrm flipH="1">
              <a:off x="3097694" y="3640920"/>
              <a:ext cx="445093" cy="4748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4BE0B6ED-F35F-BDEB-CC4B-DF323DA6F709}"/>
              </a:ext>
            </a:extLst>
          </p:cNvPr>
          <p:cNvGrpSpPr/>
          <p:nvPr/>
        </p:nvGrpSpPr>
        <p:grpSpPr>
          <a:xfrm>
            <a:off x="10485756" y="2858011"/>
            <a:ext cx="692334" cy="894806"/>
            <a:chOff x="1907175" y="2129245"/>
            <a:chExt cx="1933305" cy="3984171"/>
          </a:xfrm>
        </p:grpSpPr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928C7D6E-8031-9859-25B8-275E5B0489A7}"/>
                </a:ext>
              </a:extLst>
            </p:cNvPr>
            <p:cNvSpPr/>
            <p:nvPr/>
          </p:nvSpPr>
          <p:spPr>
            <a:xfrm>
              <a:off x="1907177" y="2129245"/>
              <a:ext cx="1933303" cy="992777"/>
            </a:xfrm>
            <a:prstGeom prst="roundRect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1200" b="1" dirty="0">
                  <a:solidFill>
                    <a:sysClr val="windowText" lastClr="000000"/>
                  </a:solidFill>
                </a:rPr>
                <a:t>Rules</a:t>
              </a:r>
            </a:p>
          </p:txBody>
        </p:sp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5C8D4A33-17DA-565E-A6E4-65B35CBDC32F}"/>
                </a:ext>
              </a:extLst>
            </p:cNvPr>
            <p:cNvSpPr/>
            <p:nvPr/>
          </p:nvSpPr>
          <p:spPr>
            <a:xfrm>
              <a:off x="1907176" y="3624942"/>
              <a:ext cx="1933303" cy="992777"/>
            </a:xfrm>
            <a:prstGeom prst="roundRect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7BFD0FE0-5E9E-C321-771E-5E3BDC4338D0}"/>
                </a:ext>
              </a:extLst>
            </p:cNvPr>
            <p:cNvSpPr/>
            <p:nvPr/>
          </p:nvSpPr>
          <p:spPr>
            <a:xfrm>
              <a:off x="1907175" y="5120639"/>
              <a:ext cx="1933303" cy="992777"/>
            </a:xfrm>
            <a:prstGeom prst="roundRect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7" name="Arrow: Down 46">
              <a:extLst>
                <a:ext uri="{FF2B5EF4-FFF2-40B4-BE49-F238E27FC236}">
                  <a16:creationId xmlns:a16="http://schemas.microsoft.com/office/drawing/2014/main" id="{08CAB797-BEF3-6BCA-1991-D8393F1760EA}"/>
                </a:ext>
              </a:extLst>
            </p:cNvPr>
            <p:cNvSpPr/>
            <p:nvPr/>
          </p:nvSpPr>
          <p:spPr>
            <a:xfrm>
              <a:off x="2710540" y="4650376"/>
              <a:ext cx="326571" cy="437606"/>
            </a:xfrm>
            <a:prstGeom prst="downArrow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48" name="Arrow: Down 47">
              <a:extLst>
                <a:ext uri="{FF2B5EF4-FFF2-40B4-BE49-F238E27FC236}">
                  <a16:creationId xmlns:a16="http://schemas.microsoft.com/office/drawing/2014/main" id="{533D27CC-B7AE-EB37-1ADF-4F69D1A2EB18}"/>
                </a:ext>
              </a:extLst>
            </p:cNvPr>
            <p:cNvSpPr/>
            <p:nvPr/>
          </p:nvSpPr>
          <p:spPr>
            <a:xfrm>
              <a:off x="2710540" y="3154679"/>
              <a:ext cx="326571" cy="437606"/>
            </a:xfrm>
            <a:prstGeom prst="downArrow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4A612643-C5CF-A8A6-9CEB-520F50CF7A4D}"/>
              </a:ext>
            </a:extLst>
          </p:cNvPr>
          <p:cNvSpPr txBox="1"/>
          <p:nvPr/>
        </p:nvSpPr>
        <p:spPr>
          <a:xfrm>
            <a:off x="10118954" y="5102154"/>
            <a:ext cx="14557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400" b="1" dirty="0"/>
              <a:t>Knowledge Graph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FB111D5D-9045-D517-B98C-DD05C7F6DBEA}"/>
              </a:ext>
            </a:extLst>
          </p:cNvPr>
          <p:cNvSpPr/>
          <p:nvPr/>
        </p:nvSpPr>
        <p:spPr>
          <a:xfrm>
            <a:off x="10118954" y="2596607"/>
            <a:ext cx="1484557" cy="2913008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FC895E16-B2E1-82A0-28C5-687DD357A6CA}"/>
              </a:ext>
            </a:extLst>
          </p:cNvPr>
          <p:cNvCxnSpPr>
            <a:cxnSpLocks/>
          </p:cNvCxnSpPr>
          <p:nvPr/>
        </p:nvCxnSpPr>
        <p:spPr>
          <a:xfrm>
            <a:off x="3667407" y="3028987"/>
            <a:ext cx="8078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0133E27F-B61F-2EE2-5903-0137C58BE3E1}"/>
              </a:ext>
            </a:extLst>
          </p:cNvPr>
          <p:cNvGrpSpPr/>
          <p:nvPr/>
        </p:nvGrpSpPr>
        <p:grpSpPr>
          <a:xfrm>
            <a:off x="1422588" y="3809127"/>
            <a:ext cx="595633" cy="676332"/>
            <a:chOff x="1907175" y="2129245"/>
            <a:chExt cx="1933304" cy="3984171"/>
          </a:xfrm>
        </p:grpSpPr>
        <p:sp>
          <p:nvSpPr>
            <p:cNvPr id="101" name="Rectangle: Rounded Corners 100">
              <a:extLst>
                <a:ext uri="{FF2B5EF4-FFF2-40B4-BE49-F238E27FC236}">
                  <a16:creationId xmlns:a16="http://schemas.microsoft.com/office/drawing/2014/main" id="{B17818F7-72E8-BC40-9130-228FBA6A83FB}"/>
                </a:ext>
              </a:extLst>
            </p:cNvPr>
            <p:cNvSpPr/>
            <p:nvPr/>
          </p:nvSpPr>
          <p:spPr>
            <a:xfrm>
              <a:off x="1907178" y="2129245"/>
              <a:ext cx="1933301" cy="992779"/>
            </a:xfrm>
            <a:prstGeom prst="roundRect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1200" b="1" dirty="0">
                  <a:solidFill>
                    <a:sysClr val="windowText" lastClr="000000"/>
                  </a:solidFill>
                </a:rPr>
                <a:t>Rules</a:t>
              </a:r>
            </a:p>
          </p:txBody>
        </p:sp>
        <p:sp>
          <p:nvSpPr>
            <p:cNvPr id="102" name="Rectangle: Rounded Corners 101">
              <a:extLst>
                <a:ext uri="{FF2B5EF4-FFF2-40B4-BE49-F238E27FC236}">
                  <a16:creationId xmlns:a16="http://schemas.microsoft.com/office/drawing/2014/main" id="{283977FC-3013-E277-CF4B-A88DBBE2F8B3}"/>
                </a:ext>
              </a:extLst>
            </p:cNvPr>
            <p:cNvSpPr/>
            <p:nvPr/>
          </p:nvSpPr>
          <p:spPr>
            <a:xfrm>
              <a:off x="1907175" y="3624944"/>
              <a:ext cx="1933304" cy="992779"/>
            </a:xfrm>
            <a:prstGeom prst="roundRect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3" name="Rectangle: Rounded Corners 102">
              <a:extLst>
                <a:ext uri="{FF2B5EF4-FFF2-40B4-BE49-F238E27FC236}">
                  <a16:creationId xmlns:a16="http://schemas.microsoft.com/office/drawing/2014/main" id="{02D67C7F-2BBB-A351-4AE1-EC044616DEC0}"/>
                </a:ext>
              </a:extLst>
            </p:cNvPr>
            <p:cNvSpPr/>
            <p:nvPr/>
          </p:nvSpPr>
          <p:spPr>
            <a:xfrm>
              <a:off x="1907175" y="5120639"/>
              <a:ext cx="1933303" cy="992777"/>
            </a:xfrm>
            <a:prstGeom prst="roundRect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4" name="Arrow: Down 103">
              <a:extLst>
                <a:ext uri="{FF2B5EF4-FFF2-40B4-BE49-F238E27FC236}">
                  <a16:creationId xmlns:a16="http://schemas.microsoft.com/office/drawing/2014/main" id="{DC21E3F6-FAE9-2C90-ACFA-D056FE7C2BA9}"/>
                </a:ext>
              </a:extLst>
            </p:cNvPr>
            <p:cNvSpPr/>
            <p:nvPr/>
          </p:nvSpPr>
          <p:spPr>
            <a:xfrm>
              <a:off x="2710540" y="4650376"/>
              <a:ext cx="326571" cy="437606"/>
            </a:xfrm>
            <a:prstGeom prst="downArrow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5" name="Arrow: Down 104">
              <a:extLst>
                <a:ext uri="{FF2B5EF4-FFF2-40B4-BE49-F238E27FC236}">
                  <a16:creationId xmlns:a16="http://schemas.microsoft.com/office/drawing/2014/main" id="{7BB31DD2-0CE4-0786-5873-12692ADC0FA8}"/>
                </a:ext>
              </a:extLst>
            </p:cNvPr>
            <p:cNvSpPr/>
            <p:nvPr/>
          </p:nvSpPr>
          <p:spPr>
            <a:xfrm>
              <a:off x="2710540" y="3154679"/>
              <a:ext cx="326571" cy="437606"/>
            </a:xfrm>
            <a:prstGeom prst="downArrow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939979FA-8A45-4495-22C3-E7D60B8E6179}"/>
              </a:ext>
            </a:extLst>
          </p:cNvPr>
          <p:cNvSpPr txBox="1"/>
          <p:nvPr/>
        </p:nvSpPr>
        <p:spPr>
          <a:xfrm>
            <a:off x="849407" y="3441055"/>
            <a:ext cx="2809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Subject Matter Expert Rules</a:t>
            </a:r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96E34F5F-517B-69BC-34FA-7A762B188D88}"/>
              </a:ext>
            </a:extLst>
          </p:cNvPr>
          <p:cNvCxnSpPr>
            <a:cxnSpLocks/>
          </p:cNvCxnSpPr>
          <p:nvPr/>
        </p:nvCxnSpPr>
        <p:spPr>
          <a:xfrm>
            <a:off x="3667407" y="3625721"/>
            <a:ext cx="8078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62237F4F-369E-5445-BF4D-0BC94E31DEA8}"/>
              </a:ext>
            </a:extLst>
          </p:cNvPr>
          <p:cNvCxnSpPr>
            <a:stCxn id="7" idx="4"/>
            <a:endCxn id="92" idx="1"/>
          </p:cNvCxnSpPr>
          <p:nvPr/>
        </p:nvCxnSpPr>
        <p:spPr>
          <a:xfrm flipV="1">
            <a:off x="9919850" y="4053111"/>
            <a:ext cx="199104" cy="4374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66101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1795F-12F4-4792-EF55-C3FF0EB1C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400" dirty="0">
                <a:solidFill>
                  <a:srgbClr val="0070C0"/>
                </a:solidFill>
                <a:latin typeface="+mn-lt"/>
              </a:rPr>
              <a:t>APM rules build / search Knowledge Graph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2FD7C9-135F-80C5-DC67-8FFC79F6B126}"/>
              </a:ext>
            </a:extLst>
          </p:cNvPr>
          <p:cNvSpPr/>
          <p:nvPr/>
        </p:nvSpPr>
        <p:spPr>
          <a:xfrm>
            <a:off x="1215483" y="2214716"/>
            <a:ext cx="9879237" cy="651504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015E82-598D-0246-9725-6A09B52C7F9B}"/>
              </a:ext>
            </a:extLst>
          </p:cNvPr>
          <p:cNvSpPr/>
          <p:nvPr/>
        </p:nvSpPr>
        <p:spPr>
          <a:xfrm>
            <a:off x="1215483" y="2946715"/>
            <a:ext cx="9879237" cy="651504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94BEE0-AF8A-DA0D-C50C-C385297FB112}"/>
              </a:ext>
            </a:extLst>
          </p:cNvPr>
          <p:cNvSpPr/>
          <p:nvPr/>
        </p:nvSpPr>
        <p:spPr>
          <a:xfrm>
            <a:off x="1215483" y="3678714"/>
            <a:ext cx="9879237" cy="651504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9A41B4-FF4C-CF4C-765F-8E300DACBC3C}"/>
              </a:ext>
            </a:extLst>
          </p:cNvPr>
          <p:cNvSpPr/>
          <p:nvPr/>
        </p:nvSpPr>
        <p:spPr>
          <a:xfrm>
            <a:off x="1215483" y="5142714"/>
            <a:ext cx="9879237" cy="651504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AAC0F4-BAF9-F618-D8FC-DB10301B0600}"/>
              </a:ext>
            </a:extLst>
          </p:cNvPr>
          <p:cNvSpPr/>
          <p:nvPr/>
        </p:nvSpPr>
        <p:spPr>
          <a:xfrm>
            <a:off x="1215483" y="4410713"/>
            <a:ext cx="9879237" cy="651504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D5E49B5-CCE8-7DEF-69FA-2839A5826505}"/>
              </a:ext>
            </a:extLst>
          </p:cNvPr>
          <p:cNvSpPr/>
          <p:nvPr/>
        </p:nvSpPr>
        <p:spPr>
          <a:xfrm>
            <a:off x="5672254" y="1871899"/>
            <a:ext cx="423746" cy="301083"/>
          </a:xfrm>
          <a:prstGeom prst="ellipse">
            <a:avLst/>
          </a:prstGeom>
          <a:solidFill>
            <a:srgbClr val="8FC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F7AB839-1EBB-215C-B5E7-8CA390D336F0}"/>
              </a:ext>
            </a:extLst>
          </p:cNvPr>
          <p:cNvSpPr/>
          <p:nvPr/>
        </p:nvSpPr>
        <p:spPr>
          <a:xfrm>
            <a:off x="3031282" y="3079889"/>
            <a:ext cx="423746" cy="30108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A59DC86-C7C4-07CE-6158-A00FCDD18D12}"/>
              </a:ext>
            </a:extLst>
          </p:cNvPr>
          <p:cNvSpPr/>
          <p:nvPr/>
        </p:nvSpPr>
        <p:spPr>
          <a:xfrm>
            <a:off x="9713903" y="3811689"/>
            <a:ext cx="423746" cy="301083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1EFF046-332C-D43E-98B2-5D748C084084}"/>
              </a:ext>
            </a:extLst>
          </p:cNvPr>
          <p:cNvSpPr/>
          <p:nvPr/>
        </p:nvSpPr>
        <p:spPr>
          <a:xfrm>
            <a:off x="2211919" y="3811689"/>
            <a:ext cx="423746" cy="30108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611B9AA-C65B-3350-CC32-DEDB99ECEC7A}"/>
              </a:ext>
            </a:extLst>
          </p:cNvPr>
          <p:cNvSpPr/>
          <p:nvPr/>
        </p:nvSpPr>
        <p:spPr>
          <a:xfrm>
            <a:off x="4974559" y="3079890"/>
            <a:ext cx="423746" cy="301083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7F10171-8A44-BE4E-5243-49B0DB306787}"/>
              </a:ext>
            </a:extLst>
          </p:cNvPr>
          <p:cNvSpPr/>
          <p:nvPr/>
        </p:nvSpPr>
        <p:spPr>
          <a:xfrm>
            <a:off x="7244050" y="3079890"/>
            <a:ext cx="423746" cy="301083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7BB79C7-29F8-4F38-C51A-213D399DB72A}"/>
              </a:ext>
            </a:extLst>
          </p:cNvPr>
          <p:cNvSpPr/>
          <p:nvPr/>
        </p:nvSpPr>
        <p:spPr>
          <a:xfrm>
            <a:off x="9183768" y="3079890"/>
            <a:ext cx="423746" cy="301083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2A18C0C-58AA-3D6F-43E8-244409CA6F90}"/>
              </a:ext>
            </a:extLst>
          </p:cNvPr>
          <p:cNvSpPr/>
          <p:nvPr/>
        </p:nvSpPr>
        <p:spPr>
          <a:xfrm>
            <a:off x="1882044" y="4540079"/>
            <a:ext cx="423746" cy="30108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040FEF8-605C-3B58-5518-D8DFBFCEAF1B}"/>
              </a:ext>
            </a:extLst>
          </p:cNvPr>
          <p:cNvSpPr/>
          <p:nvPr/>
        </p:nvSpPr>
        <p:spPr>
          <a:xfrm>
            <a:off x="4379649" y="3811689"/>
            <a:ext cx="423746" cy="30108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C436172-7911-D9A0-6EFC-678AFF5060E3}"/>
              </a:ext>
            </a:extLst>
          </p:cNvPr>
          <p:cNvSpPr/>
          <p:nvPr/>
        </p:nvSpPr>
        <p:spPr>
          <a:xfrm>
            <a:off x="5507454" y="4540079"/>
            <a:ext cx="423746" cy="301083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62996B1-83B7-5ACC-F8FC-6F887C9DD4C2}"/>
              </a:ext>
            </a:extLst>
          </p:cNvPr>
          <p:cNvSpPr/>
          <p:nvPr/>
        </p:nvSpPr>
        <p:spPr>
          <a:xfrm>
            <a:off x="3672430" y="4540079"/>
            <a:ext cx="423746" cy="301083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99B8592-4D60-3DBA-B255-4172EE9F12E9}"/>
              </a:ext>
            </a:extLst>
          </p:cNvPr>
          <p:cNvSpPr/>
          <p:nvPr/>
        </p:nvSpPr>
        <p:spPr>
          <a:xfrm>
            <a:off x="6972313" y="3811689"/>
            <a:ext cx="423746" cy="30108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55F0251-8142-3694-6EFD-9C329F32C615}"/>
              </a:ext>
            </a:extLst>
          </p:cNvPr>
          <p:cNvSpPr/>
          <p:nvPr/>
        </p:nvSpPr>
        <p:spPr>
          <a:xfrm>
            <a:off x="9584736" y="5330991"/>
            <a:ext cx="423746" cy="30108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784E308-245F-07E0-F285-6A7B728E5CED}"/>
              </a:ext>
            </a:extLst>
          </p:cNvPr>
          <p:cNvSpPr/>
          <p:nvPr/>
        </p:nvSpPr>
        <p:spPr>
          <a:xfrm>
            <a:off x="6889823" y="5330991"/>
            <a:ext cx="423746" cy="30108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B054429-C63D-856C-2B60-3EBF595D4CE2}"/>
              </a:ext>
            </a:extLst>
          </p:cNvPr>
          <p:cNvSpPr/>
          <p:nvPr/>
        </p:nvSpPr>
        <p:spPr>
          <a:xfrm>
            <a:off x="8708010" y="3811689"/>
            <a:ext cx="423746" cy="30108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A9D40C4-EE35-30D0-E05C-ED3C818971EE}"/>
              </a:ext>
            </a:extLst>
          </p:cNvPr>
          <p:cNvSpPr/>
          <p:nvPr/>
        </p:nvSpPr>
        <p:spPr>
          <a:xfrm>
            <a:off x="3384401" y="3811689"/>
            <a:ext cx="423746" cy="301083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DFB765D-D118-5CAB-3A6D-B0DABA86A46D}"/>
              </a:ext>
            </a:extLst>
          </p:cNvPr>
          <p:cNvSpPr/>
          <p:nvPr/>
        </p:nvSpPr>
        <p:spPr>
          <a:xfrm>
            <a:off x="5486607" y="3811689"/>
            <a:ext cx="423746" cy="301083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C19F230-6D06-B6D1-5D47-F0B16E930E4E}"/>
              </a:ext>
            </a:extLst>
          </p:cNvPr>
          <p:cNvSpPr/>
          <p:nvPr/>
        </p:nvSpPr>
        <p:spPr>
          <a:xfrm>
            <a:off x="1781222" y="5330991"/>
            <a:ext cx="423746" cy="30108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375DE32-05E5-4C12-506A-ADB7EB4A04A6}"/>
              </a:ext>
            </a:extLst>
          </p:cNvPr>
          <p:cNvSpPr/>
          <p:nvPr/>
        </p:nvSpPr>
        <p:spPr>
          <a:xfrm>
            <a:off x="3384401" y="5330991"/>
            <a:ext cx="423746" cy="30108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0B55CB1-7ECF-18B0-B943-5496E47B1058}"/>
              </a:ext>
            </a:extLst>
          </p:cNvPr>
          <p:cNvSpPr/>
          <p:nvPr/>
        </p:nvSpPr>
        <p:spPr>
          <a:xfrm>
            <a:off x="4390471" y="4540079"/>
            <a:ext cx="423746" cy="30108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619CDA3-C5E5-F376-F81A-C3EA1E344B88}"/>
              </a:ext>
            </a:extLst>
          </p:cNvPr>
          <p:cNvSpPr/>
          <p:nvPr/>
        </p:nvSpPr>
        <p:spPr>
          <a:xfrm>
            <a:off x="4973310" y="5330991"/>
            <a:ext cx="423746" cy="30108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ED54BA14-4023-CD5F-FA2C-AE4ED4D3DE73}"/>
              </a:ext>
            </a:extLst>
          </p:cNvPr>
          <p:cNvSpPr/>
          <p:nvPr/>
        </p:nvSpPr>
        <p:spPr>
          <a:xfrm>
            <a:off x="7284358" y="4540079"/>
            <a:ext cx="423746" cy="301083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63A4561F-0D1C-3FEE-7865-4B93EE67E9F4}"/>
              </a:ext>
            </a:extLst>
          </p:cNvPr>
          <p:cNvSpPr/>
          <p:nvPr/>
        </p:nvSpPr>
        <p:spPr>
          <a:xfrm>
            <a:off x="7720398" y="5330991"/>
            <a:ext cx="423746" cy="301083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3A2CBA36-5791-0D02-4160-1F44F21F41F0}"/>
              </a:ext>
            </a:extLst>
          </p:cNvPr>
          <p:cNvSpPr/>
          <p:nvPr/>
        </p:nvSpPr>
        <p:spPr>
          <a:xfrm>
            <a:off x="8764121" y="5330991"/>
            <a:ext cx="423746" cy="301083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13FA293B-7DFF-2791-C89A-06CF880EE21B}"/>
              </a:ext>
            </a:extLst>
          </p:cNvPr>
          <p:cNvSpPr/>
          <p:nvPr/>
        </p:nvSpPr>
        <p:spPr>
          <a:xfrm>
            <a:off x="10256888" y="5330991"/>
            <a:ext cx="423746" cy="301083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570F2F7-86B9-5E6E-F858-E91E1C39C3AF}"/>
              </a:ext>
            </a:extLst>
          </p:cNvPr>
          <p:cNvSpPr/>
          <p:nvPr/>
        </p:nvSpPr>
        <p:spPr>
          <a:xfrm>
            <a:off x="9594696" y="4540079"/>
            <a:ext cx="423746" cy="30108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77B25040-A252-A641-39E8-118690F4DB62}"/>
              </a:ext>
            </a:extLst>
          </p:cNvPr>
          <p:cNvSpPr/>
          <p:nvPr/>
        </p:nvSpPr>
        <p:spPr>
          <a:xfrm>
            <a:off x="5672254" y="5938850"/>
            <a:ext cx="423746" cy="301083"/>
          </a:xfrm>
          <a:prstGeom prst="ellipse">
            <a:avLst/>
          </a:prstGeom>
          <a:solidFill>
            <a:srgbClr val="8FC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2001A8C5-2DD5-0F2F-6161-8869EA4AA314}"/>
              </a:ext>
            </a:extLst>
          </p:cNvPr>
          <p:cNvSpPr/>
          <p:nvPr/>
        </p:nvSpPr>
        <p:spPr>
          <a:xfrm>
            <a:off x="10285136" y="4540079"/>
            <a:ext cx="423746" cy="301083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77CAE051-9D05-DE81-F4FF-EFB2C34CF6DF}"/>
              </a:ext>
            </a:extLst>
          </p:cNvPr>
          <p:cNvSpPr/>
          <p:nvPr/>
        </p:nvSpPr>
        <p:spPr>
          <a:xfrm>
            <a:off x="8424200" y="4540079"/>
            <a:ext cx="423746" cy="30108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F6364016-4F69-9D46-D832-542B057F2EAC}"/>
              </a:ext>
            </a:extLst>
          </p:cNvPr>
          <p:cNvSpPr/>
          <p:nvPr/>
        </p:nvSpPr>
        <p:spPr>
          <a:xfrm>
            <a:off x="8078083" y="2409663"/>
            <a:ext cx="423746" cy="301083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152F6503-24D2-CDB5-7B02-67BDEC3DE43B}"/>
              </a:ext>
            </a:extLst>
          </p:cNvPr>
          <p:cNvSpPr/>
          <p:nvPr/>
        </p:nvSpPr>
        <p:spPr>
          <a:xfrm>
            <a:off x="3927841" y="2409663"/>
            <a:ext cx="423746" cy="301083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0DDB2E04-DD4D-61C0-624D-093B84A670DD}"/>
              </a:ext>
            </a:extLst>
          </p:cNvPr>
          <p:cNvSpPr/>
          <p:nvPr/>
        </p:nvSpPr>
        <p:spPr>
          <a:xfrm>
            <a:off x="5952674" y="5330991"/>
            <a:ext cx="423746" cy="301083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2333796-8586-2A5C-ACA1-D4B3C662D16A}"/>
              </a:ext>
            </a:extLst>
          </p:cNvPr>
          <p:cNvCxnSpPr>
            <a:cxnSpLocks/>
            <a:stCxn id="9" idx="3"/>
            <a:endCxn id="41" idx="7"/>
          </p:cNvCxnSpPr>
          <p:nvPr/>
        </p:nvCxnSpPr>
        <p:spPr>
          <a:xfrm flipH="1">
            <a:off x="4289531" y="2128889"/>
            <a:ext cx="1444779" cy="3248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A52A9CB-2158-F85D-EBD0-AD58FB4B88CD}"/>
              </a:ext>
            </a:extLst>
          </p:cNvPr>
          <p:cNvCxnSpPr>
            <a:cxnSpLocks/>
            <a:stCxn id="41" idx="3"/>
            <a:endCxn id="10" idx="7"/>
          </p:cNvCxnSpPr>
          <p:nvPr/>
        </p:nvCxnSpPr>
        <p:spPr>
          <a:xfrm flipH="1">
            <a:off x="3392972" y="2666653"/>
            <a:ext cx="596925" cy="4573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BD0CE8A9-DFB7-CEF7-A607-9D9B972CEFA6}"/>
              </a:ext>
            </a:extLst>
          </p:cNvPr>
          <p:cNvCxnSpPr>
            <a:cxnSpLocks/>
            <a:stCxn id="10" idx="3"/>
          </p:cNvCxnSpPr>
          <p:nvPr/>
        </p:nvCxnSpPr>
        <p:spPr>
          <a:xfrm flipH="1">
            <a:off x="2477091" y="3336879"/>
            <a:ext cx="616247" cy="4898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334512C1-05FF-11D1-4975-67BC71E3ACD7}"/>
              </a:ext>
            </a:extLst>
          </p:cNvPr>
          <p:cNvCxnSpPr>
            <a:cxnSpLocks/>
          </p:cNvCxnSpPr>
          <p:nvPr/>
        </p:nvCxnSpPr>
        <p:spPr>
          <a:xfrm flipH="1">
            <a:off x="2083351" y="4136786"/>
            <a:ext cx="222439" cy="4220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35169E5E-4598-E711-ECF2-5C1DEDA4D31C}"/>
              </a:ext>
            </a:extLst>
          </p:cNvPr>
          <p:cNvCxnSpPr>
            <a:cxnSpLocks/>
          </p:cNvCxnSpPr>
          <p:nvPr/>
        </p:nvCxnSpPr>
        <p:spPr>
          <a:xfrm flipH="1">
            <a:off x="1996799" y="4881137"/>
            <a:ext cx="86552" cy="4728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6DB5C714-E225-F5D3-C54C-4D1EBFE43A2B}"/>
              </a:ext>
            </a:extLst>
          </p:cNvPr>
          <p:cNvCxnSpPr>
            <a:cxnSpLocks/>
          </p:cNvCxnSpPr>
          <p:nvPr/>
        </p:nvCxnSpPr>
        <p:spPr>
          <a:xfrm flipH="1">
            <a:off x="3672430" y="4881137"/>
            <a:ext cx="211873" cy="4574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2274C4A-27C6-271A-7021-5B6B9222B32A}"/>
              </a:ext>
            </a:extLst>
          </p:cNvPr>
          <p:cNvCxnSpPr>
            <a:cxnSpLocks/>
            <a:stCxn id="18" idx="3"/>
            <a:endCxn id="30" idx="0"/>
          </p:cNvCxnSpPr>
          <p:nvPr/>
        </p:nvCxnSpPr>
        <p:spPr>
          <a:xfrm flipH="1">
            <a:off x="5185183" y="4797069"/>
            <a:ext cx="384327" cy="5339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7E29D15C-0EE8-EEB0-5758-B33539CD9A2A}"/>
              </a:ext>
            </a:extLst>
          </p:cNvPr>
          <p:cNvCxnSpPr>
            <a:cxnSpLocks/>
          </p:cNvCxnSpPr>
          <p:nvPr/>
        </p:nvCxnSpPr>
        <p:spPr>
          <a:xfrm flipH="1">
            <a:off x="7157366" y="4868367"/>
            <a:ext cx="238693" cy="4872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9A4FCF38-A7AA-F416-9E5F-3FD7255F4107}"/>
              </a:ext>
            </a:extLst>
          </p:cNvPr>
          <p:cNvCxnSpPr>
            <a:cxnSpLocks/>
          </p:cNvCxnSpPr>
          <p:nvPr/>
        </p:nvCxnSpPr>
        <p:spPr>
          <a:xfrm>
            <a:off x="9806569" y="4862296"/>
            <a:ext cx="0" cy="4691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86CDCC25-172E-370D-1A7A-33761A048185}"/>
              </a:ext>
            </a:extLst>
          </p:cNvPr>
          <p:cNvCxnSpPr>
            <a:cxnSpLocks/>
          </p:cNvCxnSpPr>
          <p:nvPr/>
        </p:nvCxnSpPr>
        <p:spPr>
          <a:xfrm>
            <a:off x="10491993" y="4856225"/>
            <a:ext cx="0" cy="4691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CF2FB2B1-0DE4-F10A-045F-80B35DBE96E2}"/>
              </a:ext>
            </a:extLst>
          </p:cNvPr>
          <p:cNvCxnSpPr>
            <a:cxnSpLocks/>
            <a:stCxn id="9" idx="5"/>
            <a:endCxn id="40" idx="1"/>
          </p:cNvCxnSpPr>
          <p:nvPr/>
        </p:nvCxnSpPr>
        <p:spPr>
          <a:xfrm>
            <a:off x="6033944" y="2128889"/>
            <a:ext cx="2106195" cy="3248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8EAF5881-C24B-BAD8-ED8D-14E7F1A80A5B}"/>
              </a:ext>
            </a:extLst>
          </p:cNvPr>
          <p:cNvCxnSpPr>
            <a:cxnSpLocks/>
            <a:stCxn id="41" idx="5"/>
            <a:endCxn id="13" idx="0"/>
          </p:cNvCxnSpPr>
          <p:nvPr/>
        </p:nvCxnSpPr>
        <p:spPr>
          <a:xfrm>
            <a:off x="4289531" y="2666653"/>
            <a:ext cx="896901" cy="4132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AD684BD-AB7C-4195-E1C9-0F5A5BDAA072}"/>
              </a:ext>
            </a:extLst>
          </p:cNvPr>
          <p:cNvCxnSpPr>
            <a:cxnSpLocks/>
            <a:stCxn id="13" idx="5"/>
            <a:endCxn id="25" idx="0"/>
          </p:cNvCxnSpPr>
          <p:nvPr/>
        </p:nvCxnSpPr>
        <p:spPr>
          <a:xfrm>
            <a:off x="5336249" y="3336880"/>
            <a:ext cx="362231" cy="4748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04E32A7F-6240-3658-8C14-1BBFA913DFD2}"/>
              </a:ext>
            </a:extLst>
          </p:cNvPr>
          <p:cNvCxnSpPr>
            <a:cxnSpLocks/>
            <a:stCxn id="10" idx="5"/>
            <a:endCxn id="24" idx="0"/>
          </p:cNvCxnSpPr>
          <p:nvPr/>
        </p:nvCxnSpPr>
        <p:spPr>
          <a:xfrm>
            <a:off x="3392972" y="3336879"/>
            <a:ext cx="203302" cy="4748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F5CC1D71-830B-17AE-F32A-5E41AD9CF06E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3659874" y="4123141"/>
            <a:ext cx="224429" cy="4169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6ACA8D3A-E23B-D739-A5C1-8980A9F64130}"/>
              </a:ext>
            </a:extLst>
          </p:cNvPr>
          <p:cNvCxnSpPr>
            <a:cxnSpLocks/>
            <a:stCxn id="17" idx="4"/>
          </p:cNvCxnSpPr>
          <p:nvPr/>
        </p:nvCxnSpPr>
        <p:spPr>
          <a:xfrm>
            <a:off x="4591522" y="4112772"/>
            <a:ext cx="8877" cy="4273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600FE526-3268-CC9E-5087-6CC82F5669BE}"/>
              </a:ext>
            </a:extLst>
          </p:cNvPr>
          <p:cNvCxnSpPr>
            <a:cxnSpLocks/>
            <a:stCxn id="13" idx="3"/>
            <a:endCxn id="17" idx="0"/>
          </p:cNvCxnSpPr>
          <p:nvPr/>
        </p:nvCxnSpPr>
        <p:spPr>
          <a:xfrm flipH="1">
            <a:off x="4591522" y="3336880"/>
            <a:ext cx="445093" cy="4748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F4CCB037-2759-0699-21C5-031CD7BE1F26}"/>
              </a:ext>
            </a:extLst>
          </p:cNvPr>
          <p:cNvCxnSpPr>
            <a:cxnSpLocks/>
            <a:stCxn id="31" idx="4"/>
            <a:endCxn id="32" idx="0"/>
          </p:cNvCxnSpPr>
          <p:nvPr/>
        </p:nvCxnSpPr>
        <p:spPr>
          <a:xfrm>
            <a:off x="7496231" y="4841162"/>
            <a:ext cx="436040" cy="4898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693BCCE8-DB1E-2E96-E336-70D9BFBCF4FD}"/>
              </a:ext>
            </a:extLst>
          </p:cNvPr>
          <p:cNvCxnSpPr>
            <a:cxnSpLocks/>
            <a:endCxn id="33" idx="0"/>
          </p:cNvCxnSpPr>
          <p:nvPr/>
        </p:nvCxnSpPr>
        <p:spPr>
          <a:xfrm>
            <a:off x="8703161" y="4852182"/>
            <a:ext cx="272833" cy="4788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BC090ACB-9C17-EB0D-4E70-2075B0A5677F}"/>
              </a:ext>
            </a:extLst>
          </p:cNvPr>
          <p:cNvCxnSpPr>
            <a:cxnSpLocks/>
            <a:stCxn id="11" idx="5"/>
            <a:endCxn id="38" idx="0"/>
          </p:cNvCxnSpPr>
          <p:nvPr/>
        </p:nvCxnSpPr>
        <p:spPr>
          <a:xfrm>
            <a:off x="10075593" y="4068679"/>
            <a:ext cx="421416" cy="471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912B83A5-6416-4A63-50C0-AAC93EA3FC81}"/>
              </a:ext>
            </a:extLst>
          </p:cNvPr>
          <p:cNvCxnSpPr>
            <a:cxnSpLocks/>
            <a:stCxn id="15" idx="5"/>
            <a:endCxn id="11" idx="0"/>
          </p:cNvCxnSpPr>
          <p:nvPr/>
        </p:nvCxnSpPr>
        <p:spPr>
          <a:xfrm>
            <a:off x="9545458" y="3336880"/>
            <a:ext cx="380318" cy="4748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EDA909FE-0506-172F-AA92-4918D528788F}"/>
              </a:ext>
            </a:extLst>
          </p:cNvPr>
          <p:cNvCxnSpPr>
            <a:cxnSpLocks/>
            <a:stCxn id="40" idx="5"/>
            <a:endCxn id="15" idx="0"/>
          </p:cNvCxnSpPr>
          <p:nvPr/>
        </p:nvCxnSpPr>
        <p:spPr>
          <a:xfrm>
            <a:off x="8439773" y="2666653"/>
            <a:ext cx="955868" cy="4132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9EC1CE64-9D7B-F453-9238-E83D5AB2679E}"/>
              </a:ext>
            </a:extLst>
          </p:cNvPr>
          <p:cNvCxnSpPr>
            <a:cxnSpLocks/>
            <a:stCxn id="40" idx="3"/>
            <a:endCxn id="14" idx="0"/>
          </p:cNvCxnSpPr>
          <p:nvPr/>
        </p:nvCxnSpPr>
        <p:spPr>
          <a:xfrm flipH="1">
            <a:off x="7455923" y="2666653"/>
            <a:ext cx="684216" cy="4132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BAB050D3-D8FE-E05A-BDBA-5644FC1242AC}"/>
              </a:ext>
            </a:extLst>
          </p:cNvPr>
          <p:cNvCxnSpPr>
            <a:cxnSpLocks/>
            <a:stCxn id="14" idx="4"/>
            <a:endCxn id="20" idx="0"/>
          </p:cNvCxnSpPr>
          <p:nvPr/>
        </p:nvCxnSpPr>
        <p:spPr>
          <a:xfrm flipH="1">
            <a:off x="7184186" y="3380973"/>
            <a:ext cx="271737" cy="430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19E7CE4A-9C96-511A-535E-B3EC3299F299}"/>
              </a:ext>
            </a:extLst>
          </p:cNvPr>
          <p:cNvCxnSpPr>
            <a:cxnSpLocks/>
            <a:stCxn id="20" idx="4"/>
          </p:cNvCxnSpPr>
          <p:nvPr/>
        </p:nvCxnSpPr>
        <p:spPr>
          <a:xfrm>
            <a:off x="7184186" y="4112772"/>
            <a:ext cx="269608" cy="4412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01914954-DFC0-06E0-A779-525ABD986461}"/>
              </a:ext>
            </a:extLst>
          </p:cNvPr>
          <p:cNvCxnSpPr>
            <a:cxnSpLocks/>
            <a:endCxn id="36" idx="0"/>
          </p:cNvCxnSpPr>
          <p:nvPr/>
        </p:nvCxnSpPr>
        <p:spPr>
          <a:xfrm flipH="1">
            <a:off x="9806569" y="4105822"/>
            <a:ext cx="83720" cy="4342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F98103AA-744B-4003-1293-38ADB260045E}"/>
              </a:ext>
            </a:extLst>
          </p:cNvPr>
          <p:cNvCxnSpPr>
            <a:cxnSpLocks/>
            <a:stCxn id="23" idx="4"/>
            <a:endCxn id="39" idx="0"/>
          </p:cNvCxnSpPr>
          <p:nvPr/>
        </p:nvCxnSpPr>
        <p:spPr>
          <a:xfrm flipH="1">
            <a:off x="8636073" y="4112772"/>
            <a:ext cx="283810" cy="4273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5AD28987-D6A6-3C9E-4D0B-175E09416C35}"/>
              </a:ext>
            </a:extLst>
          </p:cNvPr>
          <p:cNvCxnSpPr>
            <a:cxnSpLocks/>
            <a:stCxn id="15" idx="3"/>
            <a:endCxn id="23" idx="0"/>
          </p:cNvCxnSpPr>
          <p:nvPr/>
        </p:nvCxnSpPr>
        <p:spPr>
          <a:xfrm flipH="1">
            <a:off x="8919883" y="3336880"/>
            <a:ext cx="325941" cy="4748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9DA0E78B-A877-6092-304D-3BB26C91BAF9}"/>
              </a:ext>
            </a:extLst>
          </p:cNvPr>
          <p:cNvCxnSpPr>
            <a:cxnSpLocks/>
            <a:stCxn id="25" idx="4"/>
            <a:endCxn id="18" idx="0"/>
          </p:cNvCxnSpPr>
          <p:nvPr/>
        </p:nvCxnSpPr>
        <p:spPr>
          <a:xfrm>
            <a:off x="5698480" y="4112772"/>
            <a:ext cx="20847" cy="4273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E60F9207-D85A-1339-5FDF-F8105E1B3D47}"/>
              </a:ext>
            </a:extLst>
          </p:cNvPr>
          <p:cNvCxnSpPr>
            <a:cxnSpLocks/>
            <a:stCxn id="18" idx="5"/>
            <a:endCxn id="42" idx="0"/>
          </p:cNvCxnSpPr>
          <p:nvPr/>
        </p:nvCxnSpPr>
        <p:spPr>
          <a:xfrm>
            <a:off x="5869144" y="4797069"/>
            <a:ext cx="295403" cy="5339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EF0871FA-D72B-0496-4E4E-E97309C04E5A}"/>
              </a:ext>
            </a:extLst>
          </p:cNvPr>
          <p:cNvCxnSpPr>
            <a:cxnSpLocks/>
            <a:stCxn id="42" idx="3"/>
            <a:endCxn id="37" idx="0"/>
          </p:cNvCxnSpPr>
          <p:nvPr/>
        </p:nvCxnSpPr>
        <p:spPr>
          <a:xfrm flipH="1">
            <a:off x="5884127" y="5587981"/>
            <a:ext cx="130603" cy="3508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04D54E3E-C401-B921-43AC-EE1CAB302F37}"/>
              </a:ext>
            </a:extLst>
          </p:cNvPr>
          <p:cNvCxnSpPr>
            <a:cxnSpLocks/>
            <a:stCxn id="22" idx="3"/>
            <a:endCxn id="37" idx="0"/>
          </p:cNvCxnSpPr>
          <p:nvPr/>
        </p:nvCxnSpPr>
        <p:spPr>
          <a:xfrm flipH="1">
            <a:off x="5884127" y="5587981"/>
            <a:ext cx="1067752" cy="3508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18E82666-5C3C-B77E-847A-95835FD08C7A}"/>
              </a:ext>
            </a:extLst>
          </p:cNvPr>
          <p:cNvCxnSpPr>
            <a:cxnSpLocks/>
            <a:stCxn id="32" idx="3"/>
            <a:endCxn id="37" idx="7"/>
          </p:cNvCxnSpPr>
          <p:nvPr/>
        </p:nvCxnSpPr>
        <p:spPr>
          <a:xfrm flipH="1">
            <a:off x="6033944" y="5587981"/>
            <a:ext cx="1748510" cy="3949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E7FC4D60-3FF0-6512-B7B4-78F66264FD40}"/>
              </a:ext>
            </a:extLst>
          </p:cNvPr>
          <p:cNvCxnSpPr>
            <a:cxnSpLocks/>
            <a:stCxn id="33" idx="3"/>
            <a:endCxn id="37" idx="7"/>
          </p:cNvCxnSpPr>
          <p:nvPr/>
        </p:nvCxnSpPr>
        <p:spPr>
          <a:xfrm flipH="1">
            <a:off x="6033944" y="5587981"/>
            <a:ext cx="2792233" cy="3949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76DBAFA6-CCD5-7D1D-DC06-71968387BDC2}"/>
              </a:ext>
            </a:extLst>
          </p:cNvPr>
          <p:cNvCxnSpPr>
            <a:cxnSpLocks/>
            <a:stCxn id="21" idx="3"/>
            <a:endCxn id="37" idx="7"/>
          </p:cNvCxnSpPr>
          <p:nvPr/>
        </p:nvCxnSpPr>
        <p:spPr>
          <a:xfrm flipH="1">
            <a:off x="6033944" y="5587981"/>
            <a:ext cx="3612848" cy="3949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38C1FC17-59B7-C165-25E4-C05CD57A2FA2}"/>
              </a:ext>
            </a:extLst>
          </p:cNvPr>
          <p:cNvCxnSpPr>
            <a:cxnSpLocks/>
            <a:stCxn id="34" idx="4"/>
          </p:cNvCxnSpPr>
          <p:nvPr/>
        </p:nvCxnSpPr>
        <p:spPr>
          <a:xfrm flipH="1">
            <a:off x="6128361" y="5632074"/>
            <a:ext cx="4340400" cy="4040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D7389604-8812-41E9-1B0C-DC4AB44E39DA}"/>
              </a:ext>
            </a:extLst>
          </p:cNvPr>
          <p:cNvCxnSpPr>
            <a:cxnSpLocks/>
            <a:stCxn id="27" idx="5"/>
            <a:endCxn id="37" idx="2"/>
          </p:cNvCxnSpPr>
          <p:nvPr/>
        </p:nvCxnSpPr>
        <p:spPr>
          <a:xfrm>
            <a:off x="2142912" y="5587981"/>
            <a:ext cx="3529342" cy="5014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DDED5281-3B11-532A-655A-92A58D950BCE}"/>
              </a:ext>
            </a:extLst>
          </p:cNvPr>
          <p:cNvCxnSpPr>
            <a:cxnSpLocks/>
            <a:stCxn id="28" idx="5"/>
            <a:endCxn id="37" idx="1"/>
          </p:cNvCxnSpPr>
          <p:nvPr/>
        </p:nvCxnSpPr>
        <p:spPr>
          <a:xfrm>
            <a:off x="3746091" y="5587981"/>
            <a:ext cx="1988219" cy="3949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0567ACFE-30D0-0842-1C36-7CF0A786218E}"/>
              </a:ext>
            </a:extLst>
          </p:cNvPr>
          <p:cNvCxnSpPr>
            <a:cxnSpLocks/>
            <a:stCxn id="30" idx="4"/>
            <a:endCxn id="37" idx="0"/>
          </p:cNvCxnSpPr>
          <p:nvPr/>
        </p:nvCxnSpPr>
        <p:spPr>
          <a:xfrm>
            <a:off x="5185183" y="5632074"/>
            <a:ext cx="698944" cy="3067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Oval 158">
            <a:extLst>
              <a:ext uri="{FF2B5EF4-FFF2-40B4-BE49-F238E27FC236}">
                <a16:creationId xmlns:a16="http://schemas.microsoft.com/office/drawing/2014/main" id="{FD6A9701-399A-56E8-04EF-1DD1EC6928CA}"/>
              </a:ext>
            </a:extLst>
          </p:cNvPr>
          <p:cNvSpPr/>
          <p:nvPr/>
        </p:nvSpPr>
        <p:spPr>
          <a:xfrm>
            <a:off x="4364081" y="5308764"/>
            <a:ext cx="423746" cy="301083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78D32D55-F595-5F94-F0D1-B960AC0DF336}"/>
              </a:ext>
            </a:extLst>
          </p:cNvPr>
          <p:cNvCxnSpPr>
            <a:cxnSpLocks/>
            <a:stCxn id="29" idx="4"/>
          </p:cNvCxnSpPr>
          <p:nvPr/>
        </p:nvCxnSpPr>
        <p:spPr>
          <a:xfrm flipH="1">
            <a:off x="4591522" y="4841162"/>
            <a:ext cx="10822" cy="4842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793DA735-6F4F-5CAC-27AD-4DFD818CE878}"/>
              </a:ext>
            </a:extLst>
          </p:cNvPr>
          <p:cNvCxnSpPr>
            <a:cxnSpLocks/>
            <a:stCxn id="159" idx="4"/>
            <a:endCxn id="37" idx="1"/>
          </p:cNvCxnSpPr>
          <p:nvPr/>
        </p:nvCxnSpPr>
        <p:spPr>
          <a:xfrm>
            <a:off x="4575954" y="5609847"/>
            <a:ext cx="1158356" cy="3730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TextBox 165">
            <a:extLst>
              <a:ext uri="{FF2B5EF4-FFF2-40B4-BE49-F238E27FC236}">
                <a16:creationId xmlns:a16="http://schemas.microsoft.com/office/drawing/2014/main" id="{9062EDCC-1FD0-FBD7-5D30-38F57C646021}"/>
              </a:ext>
            </a:extLst>
          </p:cNvPr>
          <p:cNvSpPr txBox="1"/>
          <p:nvPr/>
        </p:nvSpPr>
        <p:spPr>
          <a:xfrm flipH="1">
            <a:off x="581716" y="2209848"/>
            <a:ext cx="16906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>
                <a:solidFill>
                  <a:srgbClr val="0070C0"/>
                </a:solidFill>
              </a:rPr>
              <a:t>Business Value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E77CCDE3-1AFA-46F8-507C-C525C5B3C657}"/>
              </a:ext>
            </a:extLst>
          </p:cNvPr>
          <p:cNvSpPr txBox="1"/>
          <p:nvPr/>
        </p:nvSpPr>
        <p:spPr>
          <a:xfrm flipH="1">
            <a:off x="158709" y="2910612"/>
            <a:ext cx="22650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>
                <a:solidFill>
                  <a:srgbClr val="0070C0"/>
                </a:solidFill>
              </a:rPr>
              <a:t>Technical Condition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ABD6A9E1-BDE4-0200-9C8F-F3E4EB069315}"/>
              </a:ext>
            </a:extLst>
          </p:cNvPr>
          <p:cNvSpPr txBox="1"/>
          <p:nvPr/>
        </p:nvSpPr>
        <p:spPr>
          <a:xfrm flipH="1">
            <a:off x="405501" y="3630506"/>
            <a:ext cx="22650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>
                <a:solidFill>
                  <a:srgbClr val="0070C0"/>
                </a:solidFill>
              </a:rPr>
              <a:t>Application Risk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FB882E0A-A2B3-68E3-B105-04F0168B2BDC}"/>
              </a:ext>
            </a:extLst>
          </p:cNvPr>
          <p:cNvSpPr txBox="1"/>
          <p:nvPr/>
        </p:nvSpPr>
        <p:spPr>
          <a:xfrm flipH="1">
            <a:off x="401707" y="4428732"/>
            <a:ext cx="22650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>
                <a:solidFill>
                  <a:srgbClr val="0070C0"/>
                </a:solidFill>
              </a:rPr>
              <a:t>Application Cost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DF16C5C2-33C0-C781-932E-BD15FEAF02E8}"/>
              </a:ext>
            </a:extLst>
          </p:cNvPr>
          <p:cNvSpPr txBox="1"/>
          <p:nvPr/>
        </p:nvSpPr>
        <p:spPr>
          <a:xfrm flipH="1">
            <a:off x="496750" y="5098921"/>
            <a:ext cx="22650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>
                <a:solidFill>
                  <a:srgbClr val="0070C0"/>
                </a:solidFill>
              </a:rPr>
              <a:t>Modernization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9848B31A-10BE-5336-BD1D-22200874D03E}"/>
              </a:ext>
            </a:extLst>
          </p:cNvPr>
          <p:cNvSpPr txBox="1"/>
          <p:nvPr/>
        </p:nvSpPr>
        <p:spPr>
          <a:xfrm flipH="1">
            <a:off x="5601438" y="1858165"/>
            <a:ext cx="6595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/>
              <a:t>Start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D2A2561E-AF98-D604-1CF6-A1CE9A91D5CF}"/>
              </a:ext>
            </a:extLst>
          </p:cNvPr>
          <p:cNvSpPr txBox="1"/>
          <p:nvPr/>
        </p:nvSpPr>
        <p:spPr>
          <a:xfrm flipH="1">
            <a:off x="5634911" y="5926772"/>
            <a:ext cx="6595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/>
              <a:t>End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453282B5-3713-613A-36C1-E37689BAF4FA}"/>
              </a:ext>
            </a:extLst>
          </p:cNvPr>
          <p:cNvSpPr txBox="1"/>
          <p:nvPr/>
        </p:nvSpPr>
        <p:spPr>
          <a:xfrm flipH="1">
            <a:off x="3902874" y="2395264"/>
            <a:ext cx="6595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/>
              <a:t>Low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7DA6CE51-6188-ED36-DB0C-C6619D985765}"/>
              </a:ext>
            </a:extLst>
          </p:cNvPr>
          <p:cNvSpPr txBox="1"/>
          <p:nvPr/>
        </p:nvSpPr>
        <p:spPr>
          <a:xfrm flipH="1">
            <a:off x="8022250" y="2384993"/>
            <a:ext cx="6595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/>
              <a:t>High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DA177E8E-6FF9-7D67-24B8-C604BEBC56F1}"/>
              </a:ext>
            </a:extLst>
          </p:cNvPr>
          <p:cNvSpPr txBox="1"/>
          <p:nvPr/>
        </p:nvSpPr>
        <p:spPr>
          <a:xfrm flipH="1">
            <a:off x="2975449" y="3061153"/>
            <a:ext cx="6595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/>
              <a:t>Low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A2D19437-3332-D306-8D51-01806FE0CCE9}"/>
              </a:ext>
            </a:extLst>
          </p:cNvPr>
          <p:cNvSpPr txBox="1"/>
          <p:nvPr/>
        </p:nvSpPr>
        <p:spPr>
          <a:xfrm flipH="1">
            <a:off x="2184408" y="3784587"/>
            <a:ext cx="6595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/>
              <a:t>Low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3E670317-6B67-E9C8-6C6F-798D7CB15AF4}"/>
              </a:ext>
            </a:extLst>
          </p:cNvPr>
          <p:cNvSpPr txBox="1"/>
          <p:nvPr/>
        </p:nvSpPr>
        <p:spPr>
          <a:xfrm flipH="1">
            <a:off x="1851791" y="4506888"/>
            <a:ext cx="6595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/>
              <a:t>Low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21946520-4E46-DB6D-3B42-ACE209AA8D0A}"/>
              </a:ext>
            </a:extLst>
          </p:cNvPr>
          <p:cNvSpPr txBox="1"/>
          <p:nvPr/>
        </p:nvSpPr>
        <p:spPr>
          <a:xfrm flipH="1">
            <a:off x="1770604" y="5294012"/>
            <a:ext cx="6595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/>
              <a:t>Low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AE6702EE-FB4F-6401-DD92-CF6B0D247CD0}"/>
              </a:ext>
            </a:extLst>
          </p:cNvPr>
          <p:cNvSpPr txBox="1"/>
          <p:nvPr/>
        </p:nvSpPr>
        <p:spPr>
          <a:xfrm flipH="1">
            <a:off x="4335120" y="3781351"/>
            <a:ext cx="6595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/>
              <a:t>Low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05896A37-C731-9BC5-CB38-2FD161ED0B7E}"/>
              </a:ext>
            </a:extLst>
          </p:cNvPr>
          <p:cNvSpPr txBox="1"/>
          <p:nvPr/>
        </p:nvSpPr>
        <p:spPr>
          <a:xfrm flipH="1">
            <a:off x="7214452" y="3059178"/>
            <a:ext cx="6595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/>
              <a:t>Low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07175BD5-8A82-B51A-C790-53273993CD3E}"/>
              </a:ext>
            </a:extLst>
          </p:cNvPr>
          <p:cNvSpPr txBox="1"/>
          <p:nvPr/>
        </p:nvSpPr>
        <p:spPr>
          <a:xfrm flipH="1">
            <a:off x="6921717" y="3784587"/>
            <a:ext cx="6595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/>
              <a:t>Low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4AD56979-8469-FD7B-4103-4830213E4D7B}"/>
              </a:ext>
            </a:extLst>
          </p:cNvPr>
          <p:cNvSpPr txBox="1"/>
          <p:nvPr/>
        </p:nvSpPr>
        <p:spPr>
          <a:xfrm flipH="1">
            <a:off x="8695020" y="3784587"/>
            <a:ext cx="6595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/>
              <a:t>Low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963340AB-7BEF-B93E-6DC8-84598D4FF17A}"/>
              </a:ext>
            </a:extLst>
          </p:cNvPr>
          <p:cNvSpPr txBox="1"/>
          <p:nvPr/>
        </p:nvSpPr>
        <p:spPr>
          <a:xfrm flipH="1">
            <a:off x="8410256" y="4518389"/>
            <a:ext cx="6595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/>
              <a:t>Low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52170E73-DEFF-58EE-AB7F-EC09E1B42DDD}"/>
              </a:ext>
            </a:extLst>
          </p:cNvPr>
          <p:cNvSpPr txBox="1"/>
          <p:nvPr/>
        </p:nvSpPr>
        <p:spPr>
          <a:xfrm flipH="1">
            <a:off x="9573584" y="4508986"/>
            <a:ext cx="6595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/>
              <a:t>Low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88FA11E1-0123-356B-40B3-4950DB5D384A}"/>
              </a:ext>
            </a:extLst>
          </p:cNvPr>
          <p:cNvSpPr txBox="1"/>
          <p:nvPr/>
        </p:nvSpPr>
        <p:spPr>
          <a:xfrm flipH="1">
            <a:off x="9573797" y="5302526"/>
            <a:ext cx="6595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/>
              <a:t>Low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E8F4870C-39B6-CAAA-910C-E1D8B126EB16}"/>
              </a:ext>
            </a:extLst>
          </p:cNvPr>
          <p:cNvSpPr txBox="1"/>
          <p:nvPr/>
        </p:nvSpPr>
        <p:spPr>
          <a:xfrm flipH="1">
            <a:off x="6900224" y="5294158"/>
            <a:ext cx="6595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/>
              <a:t>Low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3480C9E3-4E9D-58C3-E1DA-FF58B9303863}"/>
              </a:ext>
            </a:extLst>
          </p:cNvPr>
          <p:cNvSpPr txBox="1"/>
          <p:nvPr/>
        </p:nvSpPr>
        <p:spPr>
          <a:xfrm flipH="1">
            <a:off x="4933756" y="5308434"/>
            <a:ext cx="6595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/>
              <a:t>Low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68ADD07D-964D-7304-A770-C657341505CD}"/>
              </a:ext>
            </a:extLst>
          </p:cNvPr>
          <p:cNvSpPr txBox="1"/>
          <p:nvPr/>
        </p:nvSpPr>
        <p:spPr>
          <a:xfrm flipH="1">
            <a:off x="3351317" y="5312255"/>
            <a:ext cx="6595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/>
              <a:t>Low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A1FC7561-1879-85CC-0B21-71D6B6C5070E}"/>
              </a:ext>
            </a:extLst>
          </p:cNvPr>
          <p:cNvSpPr txBox="1"/>
          <p:nvPr/>
        </p:nvSpPr>
        <p:spPr>
          <a:xfrm flipH="1">
            <a:off x="4334709" y="4508986"/>
            <a:ext cx="6595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/>
              <a:t>Low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253F8665-BB36-D8EB-BB3A-CFADACF98C07}"/>
              </a:ext>
            </a:extLst>
          </p:cNvPr>
          <p:cNvSpPr txBox="1"/>
          <p:nvPr/>
        </p:nvSpPr>
        <p:spPr>
          <a:xfrm flipH="1">
            <a:off x="4927350" y="3046191"/>
            <a:ext cx="6595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/>
              <a:t>High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E9EA1C76-B0B2-733D-773E-4E5CFAE8A251}"/>
              </a:ext>
            </a:extLst>
          </p:cNvPr>
          <p:cNvSpPr txBox="1"/>
          <p:nvPr/>
        </p:nvSpPr>
        <p:spPr>
          <a:xfrm flipH="1">
            <a:off x="3361672" y="3794492"/>
            <a:ext cx="6595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/>
              <a:t>High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B8511182-3F63-5EB0-E3CA-14783D452D81}"/>
              </a:ext>
            </a:extLst>
          </p:cNvPr>
          <p:cNvSpPr txBox="1"/>
          <p:nvPr/>
        </p:nvSpPr>
        <p:spPr>
          <a:xfrm flipH="1">
            <a:off x="9147046" y="3053842"/>
            <a:ext cx="6595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/>
              <a:t>High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B4756F42-A692-599F-F998-147DDFACE6B9}"/>
              </a:ext>
            </a:extLst>
          </p:cNvPr>
          <p:cNvSpPr txBox="1"/>
          <p:nvPr/>
        </p:nvSpPr>
        <p:spPr>
          <a:xfrm flipH="1">
            <a:off x="9653180" y="3780321"/>
            <a:ext cx="6595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/>
              <a:t>High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37659347-8AAE-1D73-5716-BF679F6E36B2}"/>
              </a:ext>
            </a:extLst>
          </p:cNvPr>
          <p:cNvSpPr txBox="1"/>
          <p:nvPr/>
        </p:nvSpPr>
        <p:spPr>
          <a:xfrm flipH="1">
            <a:off x="10245605" y="4505395"/>
            <a:ext cx="6595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/>
              <a:t>High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9DEEACB3-C340-8DF2-73C8-957BE718C6DA}"/>
              </a:ext>
            </a:extLst>
          </p:cNvPr>
          <p:cNvSpPr txBox="1"/>
          <p:nvPr/>
        </p:nvSpPr>
        <p:spPr>
          <a:xfrm flipH="1">
            <a:off x="10229639" y="5299189"/>
            <a:ext cx="6595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/>
              <a:t>High</a:t>
            </a: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7B89FC6A-336C-132A-CF46-892156824282}"/>
              </a:ext>
            </a:extLst>
          </p:cNvPr>
          <p:cNvSpPr txBox="1"/>
          <p:nvPr/>
        </p:nvSpPr>
        <p:spPr>
          <a:xfrm flipH="1">
            <a:off x="8735526" y="5319207"/>
            <a:ext cx="6595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/>
              <a:t>High</a:t>
            </a: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816D3A87-5DEA-1C20-F6AA-801ACE58157A}"/>
              </a:ext>
            </a:extLst>
          </p:cNvPr>
          <p:cNvSpPr txBox="1"/>
          <p:nvPr/>
        </p:nvSpPr>
        <p:spPr>
          <a:xfrm flipH="1">
            <a:off x="7688998" y="5299027"/>
            <a:ext cx="6595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/>
              <a:t>High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06EC1B76-A79B-7EB8-A944-D6A93A6E2B35}"/>
              </a:ext>
            </a:extLst>
          </p:cNvPr>
          <p:cNvSpPr txBox="1"/>
          <p:nvPr/>
        </p:nvSpPr>
        <p:spPr>
          <a:xfrm flipH="1">
            <a:off x="7222509" y="4502608"/>
            <a:ext cx="6595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/>
              <a:t>High</a:t>
            </a: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5EE7E89B-113E-8EAA-91FE-049CFA65A552}"/>
              </a:ext>
            </a:extLst>
          </p:cNvPr>
          <p:cNvSpPr txBox="1"/>
          <p:nvPr/>
        </p:nvSpPr>
        <p:spPr>
          <a:xfrm flipH="1">
            <a:off x="5440655" y="3805955"/>
            <a:ext cx="6595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/>
              <a:t>High</a:t>
            </a: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54E18144-D0AC-A595-66DE-5C782B1D7628}"/>
              </a:ext>
            </a:extLst>
          </p:cNvPr>
          <p:cNvSpPr txBox="1"/>
          <p:nvPr/>
        </p:nvSpPr>
        <p:spPr>
          <a:xfrm flipH="1">
            <a:off x="5462816" y="4529813"/>
            <a:ext cx="6595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/>
              <a:t>High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1F07D7D1-944D-0F22-E72B-2960BAE2B46B}"/>
              </a:ext>
            </a:extLst>
          </p:cNvPr>
          <p:cNvSpPr txBox="1"/>
          <p:nvPr/>
        </p:nvSpPr>
        <p:spPr>
          <a:xfrm flipH="1">
            <a:off x="5913965" y="5306346"/>
            <a:ext cx="6595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/>
              <a:t>High</a:t>
            </a: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822354DF-D0D2-2167-763F-778298674868}"/>
              </a:ext>
            </a:extLst>
          </p:cNvPr>
          <p:cNvSpPr txBox="1"/>
          <p:nvPr/>
        </p:nvSpPr>
        <p:spPr>
          <a:xfrm flipH="1">
            <a:off x="4294573" y="5286429"/>
            <a:ext cx="6595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/>
              <a:t>High</a:t>
            </a: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0236B703-39A0-770E-0266-9D74C210B1D0}"/>
              </a:ext>
            </a:extLst>
          </p:cNvPr>
          <p:cNvSpPr txBox="1"/>
          <p:nvPr/>
        </p:nvSpPr>
        <p:spPr>
          <a:xfrm flipH="1">
            <a:off x="3602124" y="4502608"/>
            <a:ext cx="6595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/>
              <a:t>High</a:t>
            </a: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605D2CB0-59FE-BF43-7C78-C1C4EC838C2D}"/>
              </a:ext>
            </a:extLst>
          </p:cNvPr>
          <p:cNvSpPr txBox="1"/>
          <p:nvPr/>
        </p:nvSpPr>
        <p:spPr>
          <a:xfrm flipH="1">
            <a:off x="4890210" y="2265744"/>
            <a:ext cx="3420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/>
              <a:t>1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06EF754C-C303-6235-CD15-CB823958FD4C}"/>
              </a:ext>
            </a:extLst>
          </p:cNvPr>
          <p:cNvSpPr txBox="1"/>
          <p:nvPr/>
        </p:nvSpPr>
        <p:spPr>
          <a:xfrm flipH="1">
            <a:off x="3596274" y="2864913"/>
            <a:ext cx="3420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/>
              <a:t>1</a:t>
            </a: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08B28187-ECDD-1280-5A24-958DB75F74EF}"/>
              </a:ext>
            </a:extLst>
          </p:cNvPr>
          <p:cNvSpPr txBox="1"/>
          <p:nvPr/>
        </p:nvSpPr>
        <p:spPr>
          <a:xfrm flipH="1">
            <a:off x="4632367" y="2900608"/>
            <a:ext cx="3420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/>
              <a:t>3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289C82BA-3F83-4EAA-0D8B-4DA63E1905C6}"/>
              </a:ext>
            </a:extLst>
          </p:cNvPr>
          <p:cNvSpPr txBox="1"/>
          <p:nvPr/>
        </p:nvSpPr>
        <p:spPr>
          <a:xfrm flipH="1">
            <a:off x="6609823" y="2257785"/>
            <a:ext cx="3420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/>
              <a:t>3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B99A4812-6D63-902D-46D7-715A2742F064}"/>
              </a:ext>
            </a:extLst>
          </p:cNvPr>
          <p:cNvSpPr txBox="1"/>
          <p:nvPr/>
        </p:nvSpPr>
        <p:spPr>
          <a:xfrm flipH="1">
            <a:off x="8880798" y="2929300"/>
            <a:ext cx="3420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/>
              <a:t>3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415C4E65-6FA3-C675-F329-9E22453AFBF7}"/>
              </a:ext>
            </a:extLst>
          </p:cNvPr>
          <p:cNvSpPr txBox="1"/>
          <p:nvPr/>
        </p:nvSpPr>
        <p:spPr>
          <a:xfrm flipH="1">
            <a:off x="7756098" y="2931112"/>
            <a:ext cx="2587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/>
              <a:t>1</a:t>
            </a:r>
          </a:p>
        </p:txBody>
      </p:sp>
      <p:sp>
        <p:nvSpPr>
          <p:cNvPr id="217" name="Speech Bubble: Rectangle 216">
            <a:extLst>
              <a:ext uri="{FF2B5EF4-FFF2-40B4-BE49-F238E27FC236}">
                <a16:creationId xmlns:a16="http://schemas.microsoft.com/office/drawing/2014/main" id="{909557D4-EB03-41B3-C9F4-0F5262290CB1}"/>
              </a:ext>
            </a:extLst>
          </p:cNvPr>
          <p:cNvSpPr/>
          <p:nvPr/>
        </p:nvSpPr>
        <p:spPr>
          <a:xfrm>
            <a:off x="4221543" y="1968950"/>
            <a:ext cx="581852" cy="375393"/>
          </a:xfrm>
          <a:prstGeom prst="wedgeRectCallout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18" name="Speech Bubble: Rectangle 217">
            <a:extLst>
              <a:ext uri="{FF2B5EF4-FFF2-40B4-BE49-F238E27FC236}">
                <a16:creationId xmlns:a16="http://schemas.microsoft.com/office/drawing/2014/main" id="{9EB8E678-FF85-EC51-432D-706848B2B714}"/>
              </a:ext>
            </a:extLst>
          </p:cNvPr>
          <p:cNvSpPr/>
          <p:nvPr/>
        </p:nvSpPr>
        <p:spPr>
          <a:xfrm>
            <a:off x="8394142" y="1968950"/>
            <a:ext cx="581852" cy="375393"/>
          </a:xfrm>
          <a:prstGeom prst="wedgeRectCallout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19" name="Speech Bubble: Rectangle 218">
            <a:extLst>
              <a:ext uri="{FF2B5EF4-FFF2-40B4-BE49-F238E27FC236}">
                <a16:creationId xmlns:a16="http://schemas.microsoft.com/office/drawing/2014/main" id="{972EF5C9-A33B-23F4-F6C2-6C92ADC1F42F}"/>
              </a:ext>
            </a:extLst>
          </p:cNvPr>
          <p:cNvSpPr/>
          <p:nvPr/>
        </p:nvSpPr>
        <p:spPr>
          <a:xfrm>
            <a:off x="3090578" y="2565526"/>
            <a:ext cx="581852" cy="375393"/>
          </a:xfrm>
          <a:prstGeom prst="wedgeRectCallout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20" name="Speech Bubble: Rectangle 219">
            <a:extLst>
              <a:ext uri="{FF2B5EF4-FFF2-40B4-BE49-F238E27FC236}">
                <a16:creationId xmlns:a16="http://schemas.microsoft.com/office/drawing/2014/main" id="{AD2D1394-EE37-2F9F-B164-E3C488126C42}"/>
              </a:ext>
            </a:extLst>
          </p:cNvPr>
          <p:cNvSpPr/>
          <p:nvPr/>
        </p:nvSpPr>
        <p:spPr>
          <a:xfrm>
            <a:off x="5342057" y="2565526"/>
            <a:ext cx="581852" cy="375393"/>
          </a:xfrm>
          <a:prstGeom prst="wedgeRectCallout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21" name="Speech Bubble: Rectangle 220">
            <a:extLst>
              <a:ext uri="{FF2B5EF4-FFF2-40B4-BE49-F238E27FC236}">
                <a16:creationId xmlns:a16="http://schemas.microsoft.com/office/drawing/2014/main" id="{CFE75435-6E93-1783-1358-43275A094BC5}"/>
              </a:ext>
            </a:extLst>
          </p:cNvPr>
          <p:cNvSpPr/>
          <p:nvPr/>
        </p:nvSpPr>
        <p:spPr>
          <a:xfrm>
            <a:off x="7126252" y="2565526"/>
            <a:ext cx="581852" cy="375393"/>
          </a:xfrm>
          <a:prstGeom prst="wedgeRectCallout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22" name="Speech Bubble: Rectangle 221">
            <a:extLst>
              <a:ext uri="{FF2B5EF4-FFF2-40B4-BE49-F238E27FC236}">
                <a16:creationId xmlns:a16="http://schemas.microsoft.com/office/drawing/2014/main" id="{E5D1027A-83F0-9F56-2B13-20E827109475}"/>
              </a:ext>
            </a:extLst>
          </p:cNvPr>
          <p:cNvSpPr/>
          <p:nvPr/>
        </p:nvSpPr>
        <p:spPr>
          <a:xfrm>
            <a:off x="9493741" y="2565526"/>
            <a:ext cx="581852" cy="375393"/>
          </a:xfrm>
          <a:prstGeom prst="wedgeRectCallout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CF20DF55-A1E0-0886-1970-A710458591A7}"/>
              </a:ext>
            </a:extLst>
          </p:cNvPr>
          <p:cNvSpPr txBox="1"/>
          <p:nvPr/>
        </p:nvSpPr>
        <p:spPr>
          <a:xfrm flipH="1">
            <a:off x="4129496" y="2004169"/>
            <a:ext cx="11394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/>
              <a:t>A</a:t>
            </a:r>
            <a:r>
              <a:rPr lang="en-CA" sz="1200" baseline="-25000" dirty="0"/>
              <a:t>1</a:t>
            </a:r>
            <a:r>
              <a:rPr lang="en-CA" sz="1200" dirty="0"/>
              <a:t>, A</a:t>
            </a:r>
            <a:r>
              <a:rPr lang="en-CA" sz="1200" baseline="-25000" dirty="0"/>
              <a:t>3</a:t>
            </a:r>
            <a:r>
              <a:rPr lang="en-CA" sz="1200" dirty="0"/>
              <a:t>, A</a:t>
            </a:r>
            <a:r>
              <a:rPr lang="en-CA" sz="1200" baseline="-25000" dirty="0"/>
              <a:t>5</a:t>
            </a:r>
            <a:r>
              <a:rPr lang="en-CA" sz="1200" dirty="0"/>
              <a:t>…</a:t>
            </a: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60DEF492-E142-8FA0-5845-A1C5E092AD60}"/>
              </a:ext>
            </a:extLst>
          </p:cNvPr>
          <p:cNvSpPr txBox="1"/>
          <p:nvPr/>
        </p:nvSpPr>
        <p:spPr>
          <a:xfrm flipH="1">
            <a:off x="8327178" y="2007547"/>
            <a:ext cx="932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/>
              <a:t>A</a:t>
            </a:r>
            <a:r>
              <a:rPr lang="en-CA" sz="1200" baseline="-25000" dirty="0"/>
              <a:t>2</a:t>
            </a:r>
            <a:r>
              <a:rPr lang="en-CA" sz="1200" dirty="0"/>
              <a:t>, A</a:t>
            </a:r>
            <a:r>
              <a:rPr lang="en-CA" sz="1200" baseline="-25000" dirty="0"/>
              <a:t>4</a:t>
            </a:r>
            <a:r>
              <a:rPr lang="en-CA" sz="1200" dirty="0"/>
              <a:t>, A</a:t>
            </a:r>
            <a:r>
              <a:rPr lang="en-CA" sz="1200" baseline="-25000" dirty="0"/>
              <a:t>6</a:t>
            </a:r>
            <a:r>
              <a:rPr lang="en-CA" sz="1200" dirty="0"/>
              <a:t>…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4B4A9B76-06C0-947C-9B42-F3C153B1B63D}"/>
              </a:ext>
            </a:extLst>
          </p:cNvPr>
          <p:cNvSpPr txBox="1"/>
          <p:nvPr/>
        </p:nvSpPr>
        <p:spPr>
          <a:xfrm flipH="1">
            <a:off x="7156289" y="2586156"/>
            <a:ext cx="639337" cy="276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/>
              <a:t>A</a:t>
            </a:r>
            <a:r>
              <a:rPr lang="en-CA" sz="1200" baseline="-25000" dirty="0"/>
              <a:t>2</a:t>
            </a:r>
            <a:r>
              <a:rPr lang="en-CA" sz="1200" dirty="0"/>
              <a:t>, A</a:t>
            </a:r>
            <a:r>
              <a:rPr lang="en-CA" sz="1200" baseline="-25000" dirty="0"/>
              <a:t>6</a:t>
            </a:r>
            <a:r>
              <a:rPr lang="en-CA" sz="1200" dirty="0"/>
              <a:t>…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7A519062-AD94-2950-E047-6788551228E9}"/>
              </a:ext>
            </a:extLst>
          </p:cNvPr>
          <p:cNvSpPr txBox="1"/>
          <p:nvPr/>
        </p:nvSpPr>
        <p:spPr>
          <a:xfrm flipH="1">
            <a:off x="9486900" y="2615856"/>
            <a:ext cx="639337" cy="276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/>
              <a:t>A</a:t>
            </a:r>
            <a:r>
              <a:rPr lang="en-CA" sz="1200" baseline="-25000" dirty="0"/>
              <a:t>4</a:t>
            </a:r>
            <a:r>
              <a:rPr lang="en-CA" sz="1200" dirty="0"/>
              <a:t>, A</a:t>
            </a:r>
            <a:r>
              <a:rPr lang="en-CA" sz="1200" baseline="-25000" dirty="0"/>
              <a:t>8</a:t>
            </a:r>
            <a:r>
              <a:rPr lang="en-CA" sz="1200" dirty="0"/>
              <a:t>…</a:t>
            </a: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0CE1C9EB-145E-92BA-21F8-E3FBCAB101AC}"/>
              </a:ext>
            </a:extLst>
          </p:cNvPr>
          <p:cNvSpPr txBox="1"/>
          <p:nvPr/>
        </p:nvSpPr>
        <p:spPr>
          <a:xfrm flipH="1">
            <a:off x="3079498" y="2613922"/>
            <a:ext cx="691169" cy="275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1" dirty="0"/>
              <a:t>A</a:t>
            </a:r>
            <a:r>
              <a:rPr lang="en-CA" sz="1200" b="1" baseline="-25000" dirty="0"/>
              <a:t>1</a:t>
            </a:r>
            <a:r>
              <a:rPr lang="en-CA" sz="1200" b="1" dirty="0"/>
              <a:t>, A</a:t>
            </a:r>
            <a:r>
              <a:rPr lang="en-CA" sz="1200" b="1" baseline="-25000" dirty="0"/>
              <a:t>5</a:t>
            </a:r>
            <a:r>
              <a:rPr lang="en-CA" sz="1200" b="1" dirty="0"/>
              <a:t>…</a:t>
            </a: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FB956664-A5DD-E0F4-01F3-9A4B11136258}"/>
              </a:ext>
            </a:extLst>
          </p:cNvPr>
          <p:cNvSpPr txBox="1"/>
          <p:nvPr/>
        </p:nvSpPr>
        <p:spPr>
          <a:xfrm flipH="1">
            <a:off x="5373742" y="2587948"/>
            <a:ext cx="691169" cy="275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/>
              <a:t>A</a:t>
            </a:r>
            <a:r>
              <a:rPr lang="en-CA" sz="1200" baseline="-25000" dirty="0"/>
              <a:t>3</a:t>
            </a:r>
            <a:r>
              <a:rPr lang="en-CA" sz="1200" dirty="0"/>
              <a:t>, A</a:t>
            </a:r>
            <a:r>
              <a:rPr lang="en-CA" sz="1200" baseline="-25000" dirty="0"/>
              <a:t>7</a:t>
            </a:r>
            <a:r>
              <a:rPr lang="en-CA" sz="1200" dirty="0"/>
              <a:t>…</a:t>
            </a: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15E9E812-8E96-76DF-BE30-EA164070F198}"/>
              </a:ext>
            </a:extLst>
          </p:cNvPr>
          <p:cNvSpPr txBox="1"/>
          <p:nvPr/>
        </p:nvSpPr>
        <p:spPr>
          <a:xfrm flipH="1">
            <a:off x="6512138" y="5982495"/>
            <a:ext cx="26716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u="sng" dirty="0"/>
              <a:t>Plan</a:t>
            </a:r>
            <a:r>
              <a:rPr lang="en-CA" sz="1600" b="1" dirty="0"/>
              <a:t>: Applications to Refactor</a:t>
            </a:r>
          </a:p>
        </p:txBody>
      </p:sp>
      <p:cxnSp>
        <p:nvCxnSpPr>
          <p:cNvPr id="238" name="Straight Arrow Connector 237">
            <a:extLst>
              <a:ext uri="{FF2B5EF4-FFF2-40B4-BE49-F238E27FC236}">
                <a16:creationId xmlns:a16="http://schemas.microsoft.com/office/drawing/2014/main" id="{69EDEC7A-ECFC-3B73-057B-5AAEC22EE07B}"/>
              </a:ext>
            </a:extLst>
          </p:cNvPr>
          <p:cNvCxnSpPr>
            <a:cxnSpLocks/>
          </p:cNvCxnSpPr>
          <p:nvPr/>
        </p:nvCxnSpPr>
        <p:spPr>
          <a:xfrm flipH="1" flipV="1">
            <a:off x="7157366" y="5713689"/>
            <a:ext cx="188564" cy="26880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1" name="TextBox 240">
            <a:extLst>
              <a:ext uri="{FF2B5EF4-FFF2-40B4-BE49-F238E27FC236}">
                <a16:creationId xmlns:a16="http://schemas.microsoft.com/office/drawing/2014/main" id="{E24C059D-1E81-8EE6-F8B9-967283BE1678}"/>
              </a:ext>
            </a:extLst>
          </p:cNvPr>
          <p:cNvSpPr txBox="1"/>
          <p:nvPr/>
        </p:nvSpPr>
        <p:spPr>
          <a:xfrm flipH="1">
            <a:off x="2838806" y="5982495"/>
            <a:ext cx="24165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u="sng" dirty="0"/>
              <a:t>Plan</a:t>
            </a:r>
            <a:r>
              <a:rPr lang="en-CA" sz="1600" b="1" dirty="0"/>
              <a:t>: Applications to Retire</a:t>
            </a:r>
          </a:p>
        </p:txBody>
      </p:sp>
      <p:cxnSp>
        <p:nvCxnSpPr>
          <p:cNvPr id="242" name="Straight Arrow Connector 241">
            <a:extLst>
              <a:ext uri="{FF2B5EF4-FFF2-40B4-BE49-F238E27FC236}">
                <a16:creationId xmlns:a16="http://schemas.microsoft.com/office/drawing/2014/main" id="{628ABF78-CCB5-30A8-3466-56D51F392136}"/>
              </a:ext>
            </a:extLst>
          </p:cNvPr>
          <p:cNvCxnSpPr>
            <a:cxnSpLocks/>
          </p:cNvCxnSpPr>
          <p:nvPr/>
        </p:nvCxnSpPr>
        <p:spPr>
          <a:xfrm flipH="1" flipV="1">
            <a:off x="3697555" y="5683080"/>
            <a:ext cx="230286" cy="29986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7" name="TextBox 246">
            <a:extLst>
              <a:ext uri="{FF2B5EF4-FFF2-40B4-BE49-F238E27FC236}">
                <a16:creationId xmlns:a16="http://schemas.microsoft.com/office/drawing/2014/main" id="{69609E3A-A5B7-C31C-C203-4EAE543BC82F}"/>
              </a:ext>
            </a:extLst>
          </p:cNvPr>
          <p:cNvSpPr txBox="1"/>
          <p:nvPr/>
        </p:nvSpPr>
        <p:spPr>
          <a:xfrm flipH="1">
            <a:off x="9189140" y="5982495"/>
            <a:ext cx="24165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u="sng" dirty="0"/>
              <a:t>Plan</a:t>
            </a:r>
            <a:r>
              <a:rPr lang="en-CA" sz="1600" b="1" dirty="0"/>
              <a:t>: Applications to Invest</a:t>
            </a:r>
          </a:p>
        </p:txBody>
      </p:sp>
      <p:cxnSp>
        <p:nvCxnSpPr>
          <p:cNvPr id="248" name="Straight Arrow Connector 247">
            <a:extLst>
              <a:ext uri="{FF2B5EF4-FFF2-40B4-BE49-F238E27FC236}">
                <a16:creationId xmlns:a16="http://schemas.microsoft.com/office/drawing/2014/main" id="{7994CC46-33F3-A1AD-9E47-98D3AD5C7781}"/>
              </a:ext>
            </a:extLst>
          </p:cNvPr>
          <p:cNvCxnSpPr>
            <a:cxnSpLocks/>
          </p:cNvCxnSpPr>
          <p:nvPr/>
        </p:nvCxnSpPr>
        <p:spPr>
          <a:xfrm flipH="1" flipV="1">
            <a:off x="9172140" y="5672567"/>
            <a:ext cx="676289" cy="2164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2" name="Oval 251">
            <a:extLst>
              <a:ext uri="{FF2B5EF4-FFF2-40B4-BE49-F238E27FC236}">
                <a16:creationId xmlns:a16="http://schemas.microsoft.com/office/drawing/2014/main" id="{75901B3D-86D2-AE8D-C0B2-BC402355A564}"/>
              </a:ext>
            </a:extLst>
          </p:cNvPr>
          <p:cNvSpPr/>
          <p:nvPr/>
        </p:nvSpPr>
        <p:spPr>
          <a:xfrm>
            <a:off x="2894365" y="4540078"/>
            <a:ext cx="423746" cy="301083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DC2310A7-DA0A-E741-E1D3-30DF50EB66EE}"/>
              </a:ext>
            </a:extLst>
          </p:cNvPr>
          <p:cNvSpPr txBox="1"/>
          <p:nvPr/>
        </p:nvSpPr>
        <p:spPr>
          <a:xfrm flipH="1">
            <a:off x="2852146" y="4517671"/>
            <a:ext cx="6595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>
                <a:solidFill>
                  <a:schemeClr val="bg1">
                    <a:lumMod val="75000"/>
                  </a:schemeClr>
                </a:solidFill>
              </a:rPr>
              <a:t>Low</a:t>
            </a:r>
          </a:p>
        </p:txBody>
      </p:sp>
      <p:cxnSp>
        <p:nvCxnSpPr>
          <p:cNvPr id="254" name="Straight Arrow Connector 253">
            <a:extLst>
              <a:ext uri="{FF2B5EF4-FFF2-40B4-BE49-F238E27FC236}">
                <a16:creationId xmlns:a16="http://schemas.microsoft.com/office/drawing/2014/main" id="{BD29CC1B-C401-EE2C-187F-97129A602DFD}"/>
              </a:ext>
            </a:extLst>
          </p:cNvPr>
          <p:cNvCxnSpPr>
            <a:cxnSpLocks/>
            <a:endCxn id="253" idx="0"/>
          </p:cNvCxnSpPr>
          <p:nvPr/>
        </p:nvCxnSpPr>
        <p:spPr>
          <a:xfrm flipH="1">
            <a:off x="3181907" y="4075860"/>
            <a:ext cx="318464" cy="441811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8" name="TextBox 257">
            <a:extLst>
              <a:ext uri="{FF2B5EF4-FFF2-40B4-BE49-F238E27FC236}">
                <a16:creationId xmlns:a16="http://schemas.microsoft.com/office/drawing/2014/main" id="{E5FCE9EB-721A-52E0-742C-92AF26444F9D}"/>
              </a:ext>
            </a:extLst>
          </p:cNvPr>
          <p:cNvSpPr txBox="1"/>
          <p:nvPr/>
        </p:nvSpPr>
        <p:spPr>
          <a:xfrm flipH="1">
            <a:off x="355600" y="5962000"/>
            <a:ext cx="23541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/>
              <a:t>Node has no Applications</a:t>
            </a:r>
          </a:p>
        </p:txBody>
      </p:sp>
      <p:cxnSp>
        <p:nvCxnSpPr>
          <p:cNvPr id="259" name="Straight Arrow Connector 258">
            <a:extLst>
              <a:ext uri="{FF2B5EF4-FFF2-40B4-BE49-F238E27FC236}">
                <a16:creationId xmlns:a16="http://schemas.microsoft.com/office/drawing/2014/main" id="{70F755A1-C0DD-46A0-A497-7B7EC20A29EC}"/>
              </a:ext>
            </a:extLst>
          </p:cNvPr>
          <p:cNvCxnSpPr>
            <a:cxnSpLocks/>
          </p:cNvCxnSpPr>
          <p:nvPr/>
        </p:nvCxnSpPr>
        <p:spPr>
          <a:xfrm flipV="1">
            <a:off x="2580414" y="4864581"/>
            <a:ext cx="476547" cy="107426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1" name="Straight Arrow Connector 260">
            <a:extLst>
              <a:ext uri="{FF2B5EF4-FFF2-40B4-BE49-F238E27FC236}">
                <a16:creationId xmlns:a16="http://schemas.microsoft.com/office/drawing/2014/main" id="{11002559-FD5E-5391-9BC7-73EDCF1BAD31}"/>
              </a:ext>
            </a:extLst>
          </p:cNvPr>
          <p:cNvCxnSpPr>
            <a:cxnSpLocks/>
          </p:cNvCxnSpPr>
          <p:nvPr/>
        </p:nvCxnSpPr>
        <p:spPr>
          <a:xfrm flipH="1">
            <a:off x="9012562" y="2089036"/>
            <a:ext cx="70134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4" name="TextBox 263">
            <a:extLst>
              <a:ext uri="{FF2B5EF4-FFF2-40B4-BE49-F238E27FC236}">
                <a16:creationId xmlns:a16="http://schemas.microsoft.com/office/drawing/2014/main" id="{CE177FA4-D422-BF71-A89C-625BC863403A}"/>
              </a:ext>
            </a:extLst>
          </p:cNvPr>
          <p:cNvSpPr txBox="1"/>
          <p:nvPr/>
        </p:nvSpPr>
        <p:spPr>
          <a:xfrm flipH="1">
            <a:off x="9784971" y="1900807"/>
            <a:ext cx="29191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/>
              <a:t>Applications</a:t>
            </a:r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7AA6A052-1D08-66D7-DB6A-A37B970D16F1}"/>
              </a:ext>
            </a:extLst>
          </p:cNvPr>
          <p:cNvSpPr txBox="1"/>
          <p:nvPr/>
        </p:nvSpPr>
        <p:spPr>
          <a:xfrm flipH="1">
            <a:off x="5523675" y="2236062"/>
            <a:ext cx="12183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dirty="0"/>
              <a:t>Weights</a:t>
            </a:r>
          </a:p>
        </p:txBody>
      </p:sp>
      <p:cxnSp>
        <p:nvCxnSpPr>
          <p:cNvPr id="269" name="Straight Arrow Connector 268">
            <a:extLst>
              <a:ext uri="{FF2B5EF4-FFF2-40B4-BE49-F238E27FC236}">
                <a16:creationId xmlns:a16="http://schemas.microsoft.com/office/drawing/2014/main" id="{0D8760F9-75F0-46AF-F358-8DE1ACCAA971}"/>
              </a:ext>
            </a:extLst>
          </p:cNvPr>
          <p:cNvCxnSpPr>
            <a:cxnSpLocks/>
          </p:cNvCxnSpPr>
          <p:nvPr/>
        </p:nvCxnSpPr>
        <p:spPr>
          <a:xfrm flipH="1">
            <a:off x="5245539" y="2436272"/>
            <a:ext cx="28853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1" name="TextBox 270">
            <a:extLst>
              <a:ext uri="{FF2B5EF4-FFF2-40B4-BE49-F238E27FC236}">
                <a16:creationId xmlns:a16="http://schemas.microsoft.com/office/drawing/2014/main" id="{B891D633-0FD2-9B98-F851-D4CDFA28E9D4}"/>
              </a:ext>
            </a:extLst>
          </p:cNvPr>
          <p:cNvSpPr txBox="1"/>
          <p:nvPr/>
        </p:nvSpPr>
        <p:spPr>
          <a:xfrm flipH="1">
            <a:off x="5931726" y="3044491"/>
            <a:ext cx="13818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b="1" u="sng" dirty="0"/>
              <a:t>Plan</a:t>
            </a:r>
            <a:r>
              <a:rPr lang="en-CA" sz="1600" b="1" dirty="0"/>
              <a:t>: Tolerate </a:t>
            </a:r>
          </a:p>
          <a:p>
            <a:r>
              <a:rPr lang="en-CA" sz="1600" b="1" dirty="0"/>
              <a:t>Applications </a:t>
            </a:r>
          </a:p>
        </p:txBody>
      </p:sp>
      <p:cxnSp>
        <p:nvCxnSpPr>
          <p:cNvPr id="272" name="Straight Arrow Connector 271">
            <a:extLst>
              <a:ext uri="{FF2B5EF4-FFF2-40B4-BE49-F238E27FC236}">
                <a16:creationId xmlns:a16="http://schemas.microsoft.com/office/drawing/2014/main" id="{F1579E93-944F-6450-67C2-9E7E6909AB16}"/>
              </a:ext>
            </a:extLst>
          </p:cNvPr>
          <p:cNvCxnSpPr>
            <a:cxnSpLocks/>
          </p:cNvCxnSpPr>
          <p:nvPr/>
        </p:nvCxnSpPr>
        <p:spPr>
          <a:xfrm flipH="1">
            <a:off x="5486607" y="3230430"/>
            <a:ext cx="38253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280" name="Group 279">
            <a:extLst>
              <a:ext uri="{FF2B5EF4-FFF2-40B4-BE49-F238E27FC236}">
                <a16:creationId xmlns:a16="http://schemas.microsoft.com/office/drawing/2014/main" id="{F022F793-5744-13B1-D499-9EA4EC6DC485}"/>
              </a:ext>
            </a:extLst>
          </p:cNvPr>
          <p:cNvGrpSpPr/>
          <p:nvPr/>
        </p:nvGrpSpPr>
        <p:grpSpPr>
          <a:xfrm>
            <a:off x="8987714" y="4909195"/>
            <a:ext cx="737073" cy="375393"/>
            <a:chOff x="11198291" y="4553978"/>
            <a:chExt cx="737073" cy="375393"/>
          </a:xfrm>
        </p:grpSpPr>
        <p:sp>
          <p:nvSpPr>
            <p:cNvPr id="279" name="Speech Bubble: Rectangle 278">
              <a:extLst>
                <a:ext uri="{FF2B5EF4-FFF2-40B4-BE49-F238E27FC236}">
                  <a16:creationId xmlns:a16="http://schemas.microsoft.com/office/drawing/2014/main" id="{4D95B93E-F91D-71A9-67BE-6EB70C2FF11A}"/>
                </a:ext>
              </a:extLst>
            </p:cNvPr>
            <p:cNvSpPr/>
            <p:nvPr/>
          </p:nvSpPr>
          <p:spPr>
            <a:xfrm>
              <a:off x="11198291" y="4553978"/>
              <a:ext cx="581852" cy="375393"/>
            </a:xfrm>
            <a:prstGeom prst="wedgeRectCallout">
              <a:avLst/>
            </a:prstGeom>
            <a:solidFill>
              <a:srgbClr val="FFFFC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78" name="TextBox 277">
              <a:extLst>
                <a:ext uri="{FF2B5EF4-FFF2-40B4-BE49-F238E27FC236}">
                  <a16:creationId xmlns:a16="http://schemas.microsoft.com/office/drawing/2014/main" id="{05BC5414-4373-936F-AA87-BA803717E798}"/>
                </a:ext>
              </a:extLst>
            </p:cNvPr>
            <p:cNvSpPr txBox="1"/>
            <p:nvPr/>
          </p:nvSpPr>
          <p:spPr>
            <a:xfrm flipH="1">
              <a:off x="11296027" y="4553978"/>
              <a:ext cx="639337" cy="2769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200" dirty="0"/>
                <a:t>A</a:t>
              </a:r>
              <a:r>
                <a:rPr lang="en-CA" sz="1200" baseline="-25000" dirty="0"/>
                <a:t>8</a:t>
              </a:r>
              <a:r>
                <a:rPr lang="en-CA" sz="1200" dirty="0"/>
                <a:t>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898423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D2915-6DBB-0EB3-AC76-7EB10E5A4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>
                <a:solidFill>
                  <a:srgbClr val="0070C0"/>
                </a:solidFill>
                <a:latin typeface="+mn-lt"/>
              </a:rPr>
              <a:t>Resources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49DDC637-B4DA-4797-1562-5A09E741ED9D}"/>
              </a:ext>
            </a:extLst>
          </p:cNvPr>
          <p:cNvSpPr txBox="1">
            <a:spLocks/>
          </p:cNvSpPr>
          <p:nvPr/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dirty="0"/>
              <a:t>The following is a sample set of resources for the interested student to learn more about Application Portfolio Management: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hlinkClick r:id="rId2"/>
              </a:rPr>
              <a:t>Gartner | Delivering Actionable, Objective Insight to Executives and Their Teams</a:t>
            </a: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hlinkClick r:id="rId3"/>
              </a:rPr>
              <a:t>Forrester Helps Organizations Thrive Through Volatility</a:t>
            </a: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hlinkClick r:id="rId4"/>
              </a:rPr>
              <a:t>The 6 Rs of application modernization - App Modernization Guidance | Microsoft Learn</a:t>
            </a:r>
            <a:endParaRPr lang="en-CA" dirty="0"/>
          </a:p>
          <a:p>
            <a:pPr>
              <a:buFont typeface="Wingdings" panose="05000000000000000000" pitchFamily="2" charset="2"/>
              <a:buChar char="§"/>
            </a:pPr>
            <a:r>
              <a:rPr lang="en-CA" dirty="0">
                <a:hlinkClick r:id="rId5"/>
              </a:rPr>
              <a:t>Application portfolio management – Wikipedia</a:t>
            </a:r>
            <a:endParaRPr lang="en-CA" dirty="0"/>
          </a:p>
          <a:p>
            <a:pPr>
              <a:buFont typeface="Wingdings" panose="05000000000000000000" pitchFamily="2" charset="2"/>
              <a:buChar char="§"/>
            </a:pPr>
            <a:r>
              <a:rPr lang="en-CA" dirty="0"/>
              <a:t>Vendors </a:t>
            </a:r>
            <a:r>
              <a:rPr lang="en-US" dirty="0">
                <a:hlinkClick r:id="rId6"/>
              </a:rPr>
              <a:t>Best Application Portfolio Management Tools Reviews 2025 | Gartner Peer Insights</a:t>
            </a:r>
            <a:endParaRPr lang="en-CA" dirty="0"/>
          </a:p>
          <a:p>
            <a:pPr marL="0" indent="0">
              <a:buNone/>
            </a:pPr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6251262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E57B5-576E-7AB9-9EBE-A9B13AB7E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8A22C-9CF3-A202-D62C-5C7CF2818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  <a:latin typeface="+mn-lt"/>
              </a:rPr>
              <a:t>Planning Agent Design</a:t>
            </a:r>
          </a:p>
        </p:txBody>
      </p:sp>
      <p:grpSp>
        <p:nvGrpSpPr>
          <p:cNvPr id="254" name="Group 253">
            <a:extLst>
              <a:ext uri="{FF2B5EF4-FFF2-40B4-BE49-F238E27FC236}">
                <a16:creationId xmlns:a16="http://schemas.microsoft.com/office/drawing/2014/main" id="{D78918DF-4FB8-115A-FCEA-3216923BDC02}"/>
              </a:ext>
            </a:extLst>
          </p:cNvPr>
          <p:cNvGrpSpPr/>
          <p:nvPr/>
        </p:nvGrpSpPr>
        <p:grpSpPr>
          <a:xfrm>
            <a:off x="171838" y="1976095"/>
            <a:ext cx="11848324" cy="4369978"/>
            <a:chOff x="192296" y="1935455"/>
            <a:chExt cx="11848324" cy="4369978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13CA2873-3CF4-A4DB-C188-0AEAC3356ABC}"/>
                </a:ext>
              </a:extLst>
            </p:cNvPr>
            <p:cNvSpPr/>
            <p:nvPr/>
          </p:nvSpPr>
          <p:spPr>
            <a:xfrm>
              <a:off x="8231023" y="1941445"/>
              <a:ext cx="1388717" cy="636673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1000" b="1" dirty="0" err="1">
                  <a:solidFill>
                    <a:schemeClr val="tx1"/>
                  </a:solidFill>
                </a:rPr>
                <a:t>BooleanExpression</a:t>
              </a:r>
              <a:endParaRPr lang="en-CA" sz="1000" b="1" dirty="0">
                <a:solidFill>
                  <a:schemeClr val="tx1"/>
                </a:solidFill>
              </a:endParaRPr>
            </a:p>
            <a:p>
              <a:pPr algn="ctr"/>
              <a:r>
                <a:rPr lang="en-CA" sz="1000" b="1" dirty="0" err="1">
                  <a:solidFill>
                    <a:schemeClr val="tx1"/>
                  </a:solidFill>
                </a:rPr>
                <a:t>ParserA</a:t>
              </a:r>
              <a:endParaRPr lang="en-CA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D03EE135-16A4-7272-B30E-7ED204134BA0}"/>
                </a:ext>
              </a:extLst>
            </p:cNvPr>
            <p:cNvSpPr/>
            <p:nvPr/>
          </p:nvSpPr>
          <p:spPr>
            <a:xfrm>
              <a:off x="7467697" y="3472597"/>
              <a:ext cx="1388717" cy="636673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1000" b="1" dirty="0" err="1">
                  <a:solidFill>
                    <a:schemeClr val="tx1"/>
                  </a:solidFill>
                </a:rPr>
                <a:t>PlannerBoolean</a:t>
              </a:r>
              <a:endParaRPr lang="en-CA" sz="1000" b="1" dirty="0">
                <a:solidFill>
                  <a:schemeClr val="tx1"/>
                </a:solidFill>
              </a:endParaRPr>
            </a:p>
            <a:p>
              <a:pPr algn="ctr"/>
              <a:r>
                <a:rPr lang="en-CA" sz="1000" b="1" dirty="0" err="1">
                  <a:solidFill>
                    <a:schemeClr val="tx1"/>
                  </a:solidFill>
                </a:rPr>
                <a:t>ExpressionEvaluatorC</a:t>
              </a:r>
              <a:endParaRPr lang="en-CA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E43C6612-0167-6163-6D7E-A3FB7717D94D}"/>
                </a:ext>
              </a:extLst>
            </p:cNvPr>
            <p:cNvSpPr/>
            <p:nvPr/>
          </p:nvSpPr>
          <p:spPr>
            <a:xfrm>
              <a:off x="5558887" y="4347763"/>
              <a:ext cx="1388717" cy="636673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1000" b="1" dirty="0" err="1">
                  <a:solidFill>
                    <a:schemeClr val="tx1"/>
                  </a:solidFill>
                </a:rPr>
                <a:t>RulesEngineC</a:t>
              </a:r>
              <a:endParaRPr lang="en-CA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79F98130-DAA4-72D6-BA3C-DD6D2B21A9D0}"/>
                </a:ext>
              </a:extLst>
            </p:cNvPr>
            <p:cNvSpPr/>
            <p:nvPr/>
          </p:nvSpPr>
          <p:spPr>
            <a:xfrm>
              <a:off x="5558884" y="5668760"/>
              <a:ext cx="1388717" cy="636673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1000" b="1" dirty="0" err="1">
                  <a:solidFill>
                    <a:schemeClr val="tx1"/>
                  </a:solidFill>
                </a:rPr>
                <a:t>KnowledgeBaseC</a:t>
              </a:r>
              <a:endParaRPr lang="en-CA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DAD2B150-3546-800F-2D72-E88B28314E0D}"/>
                </a:ext>
              </a:extLst>
            </p:cNvPr>
            <p:cNvSpPr/>
            <p:nvPr/>
          </p:nvSpPr>
          <p:spPr>
            <a:xfrm>
              <a:off x="192296" y="4347765"/>
              <a:ext cx="1388717" cy="636673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1000" b="1" dirty="0" err="1">
                  <a:solidFill>
                    <a:schemeClr val="tx1"/>
                  </a:solidFill>
                </a:rPr>
                <a:t>PlanningAgent</a:t>
              </a:r>
              <a:endParaRPr lang="en-CA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7DCDCFCF-65B2-F292-23FB-526AFF0AE645}"/>
                </a:ext>
              </a:extLst>
            </p:cNvPr>
            <p:cNvSpPr/>
            <p:nvPr/>
          </p:nvSpPr>
          <p:spPr>
            <a:xfrm>
              <a:off x="1977029" y="3435582"/>
              <a:ext cx="1388717" cy="636673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1000" b="1" dirty="0" err="1">
                  <a:solidFill>
                    <a:schemeClr val="tx1"/>
                  </a:solidFill>
                </a:rPr>
                <a:t>PlannerControllerC</a:t>
              </a:r>
              <a:endParaRPr lang="en-CA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83F5C067-44EE-0752-ECB1-6B66978EAD11}"/>
                </a:ext>
              </a:extLst>
            </p:cNvPr>
            <p:cNvSpPr/>
            <p:nvPr/>
          </p:nvSpPr>
          <p:spPr>
            <a:xfrm>
              <a:off x="3711561" y="3345103"/>
              <a:ext cx="1388717" cy="636673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1000" b="1" dirty="0" err="1">
                  <a:solidFill>
                    <a:schemeClr val="tx1"/>
                  </a:solidFill>
                </a:rPr>
                <a:t>PerceptionC</a:t>
              </a:r>
              <a:endParaRPr lang="en-CA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FDB51E55-E64C-D706-D560-693A9EB1B115}"/>
                </a:ext>
              </a:extLst>
            </p:cNvPr>
            <p:cNvSpPr/>
            <p:nvPr/>
          </p:nvSpPr>
          <p:spPr>
            <a:xfrm>
              <a:off x="3711562" y="5398073"/>
              <a:ext cx="1388717" cy="636673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1000" b="1" dirty="0" err="1">
                  <a:solidFill>
                    <a:schemeClr val="tx1"/>
                  </a:solidFill>
                </a:rPr>
                <a:t>EnvironmentC</a:t>
              </a:r>
              <a:endParaRPr lang="en-CA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26CCD920-8FCE-F89A-2338-6497F1D33851}"/>
                </a:ext>
              </a:extLst>
            </p:cNvPr>
            <p:cNvSpPr/>
            <p:nvPr/>
          </p:nvSpPr>
          <p:spPr>
            <a:xfrm>
              <a:off x="3711561" y="4347763"/>
              <a:ext cx="1388717" cy="636673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1000" b="1" dirty="0" err="1">
                  <a:solidFill>
                    <a:schemeClr val="tx1"/>
                  </a:solidFill>
                </a:rPr>
                <a:t>AgentC</a:t>
              </a:r>
              <a:endParaRPr lang="en-CA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A754BC79-AD5A-6509-D4FA-BFA0FA6135F4}"/>
                </a:ext>
              </a:extLst>
            </p:cNvPr>
            <p:cNvSpPr/>
            <p:nvPr/>
          </p:nvSpPr>
          <p:spPr>
            <a:xfrm>
              <a:off x="9144000" y="3026767"/>
              <a:ext cx="1388717" cy="636673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1000" b="1" dirty="0" err="1">
                  <a:solidFill>
                    <a:schemeClr val="tx1"/>
                  </a:solidFill>
                </a:rPr>
                <a:t>PlannerAction</a:t>
              </a:r>
              <a:endParaRPr lang="en-CA" sz="1000" b="1" dirty="0">
                <a:solidFill>
                  <a:schemeClr val="tx1"/>
                </a:solidFill>
              </a:endParaRPr>
            </a:p>
            <a:p>
              <a:pPr algn="ctr"/>
              <a:r>
                <a:rPr lang="en-CA" sz="1000" b="1" dirty="0" err="1">
                  <a:solidFill>
                    <a:schemeClr val="tx1"/>
                  </a:solidFill>
                </a:rPr>
                <a:t>ConstructA</a:t>
              </a:r>
              <a:endParaRPr lang="en-CA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D0310F27-8242-26EF-BCFE-1BE071D50AC0}"/>
                </a:ext>
              </a:extLst>
            </p:cNvPr>
            <p:cNvSpPr/>
            <p:nvPr/>
          </p:nvSpPr>
          <p:spPr>
            <a:xfrm>
              <a:off x="192296" y="1935455"/>
              <a:ext cx="1388717" cy="636673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1000" b="1" dirty="0">
                  <a:solidFill>
                    <a:schemeClr val="tx1"/>
                  </a:solidFill>
                </a:rPr>
                <a:t>Global</a:t>
              </a: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AECF1B4-7425-3ACC-4DE4-D349E7B5C2BA}"/>
                </a:ext>
              </a:extLst>
            </p:cNvPr>
            <p:cNvCxnSpPr>
              <a:cxnSpLocks/>
              <a:stCxn id="12" idx="0"/>
              <a:endCxn id="13" idx="1"/>
            </p:cNvCxnSpPr>
            <p:nvPr/>
          </p:nvCxnSpPr>
          <p:spPr>
            <a:xfrm rot="5400000" flipH="1" flipV="1">
              <a:off x="1134919" y="3505655"/>
              <a:ext cx="593846" cy="1090374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7B52BCD-7AF7-DDDF-5F88-852241366F10}"/>
                </a:ext>
              </a:extLst>
            </p:cNvPr>
            <p:cNvCxnSpPr>
              <a:cxnSpLocks/>
              <a:stCxn id="13" idx="3"/>
              <a:endCxn id="17" idx="1"/>
            </p:cNvCxnSpPr>
            <p:nvPr/>
          </p:nvCxnSpPr>
          <p:spPr>
            <a:xfrm>
              <a:off x="3365746" y="3753919"/>
              <a:ext cx="345815" cy="912181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F3618BA-C6D7-352A-7FBE-9742F2674C0E}"/>
                </a:ext>
              </a:extLst>
            </p:cNvPr>
            <p:cNvCxnSpPr>
              <a:cxnSpLocks/>
              <a:stCxn id="14" idx="2"/>
              <a:endCxn id="17" idx="0"/>
            </p:cNvCxnSpPr>
            <p:nvPr/>
          </p:nvCxnSpPr>
          <p:spPr>
            <a:xfrm>
              <a:off x="4405920" y="3981776"/>
              <a:ext cx="0" cy="36598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0A800D2-7DC6-DD21-38F3-DD14A62FBC88}"/>
                </a:ext>
              </a:extLst>
            </p:cNvPr>
            <p:cNvCxnSpPr>
              <a:cxnSpLocks/>
              <a:stCxn id="55" idx="1"/>
              <a:endCxn id="62" idx="3"/>
            </p:cNvCxnSpPr>
            <p:nvPr/>
          </p:nvCxnSpPr>
          <p:spPr>
            <a:xfrm flipH="1">
              <a:off x="8856414" y="4666097"/>
              <a:ext cx="1101131" cy="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5782D51-3D29-CC06-0685-1C8957BA9BB7}"/>
                </a:ext>
              </a:extLst>
            </p:cNvPr>
            <p:cNvCxnSpPr>
              <a:cxnSpLocks/>
              <a:stCxn id="17" idx="3"/>
              <a:endCxn id="11" idx="1"/>
            </p:cNvCxnSpPr>
            <p:nvPr/>
          </p:nvCxnSpPr>
          <p:spPr>
            <a:xfrm>
              <a:off x="5100278" y="4666100"/>
              <a:ext cx="458606" cy="1320997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F50E592E-7E9C-6B8B-57A1-9BF29118D54C}"/>
                </a:ext>
              </a:extLst>
            </p:cNvPr>
            <p:cNvCxnSpPr>
              <a:cxnSpLocks/>
              <a:stCxn id="10" idx="0"/>
              <a:endCxn id="9" idx="1"/>
            </p:cNvCxnSpPr>
            <p:nvPr/>
          </p:nvCxnSpPr>
          <p:spPr>
            <a:xfrm rot="5400000" flipH="1" flipV="1">
              <a:off x="6582057" y="3462124"/>
              <a:ext cx="556829" cy="1214451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443B1CA-13AD-34FF-14ED-312201082CC6}"/>
                </a:ext>
              </a:extLst>
            </p:cNvPr>
            <p:cNvCxnSpPr>
              <a:cxnSpLocks/>
              <a:stCxn id="17" idx="3"/>
              <a:endCxn id="10" idx="1"/>
            </p:cNvCxnSpPr>
            <p:nvPr/>
          </p:nvCxnSpPr>
          <p:spPr>
            <a:xfrm>
              <a:off x="5100278" y="4666100"/>
              <a:ext cx="45860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006AE209-01CB-4600-BE26-094608E2420A}"/>
                </a:ext>
              </a:extLst>
            </p:cNvPr>
            <p:cNvCxnSpPr>
              <a:cxnSpLocks/>
              <a:stCxn id="15" idx="0"/>
              <a:endCxn id="17" idx="2"/>
            </p:cNvCxnSpPr>
            <p:nvPr/>
          </p:nvCxnSpPr>
          <p:spPr>
            <a:xfrm rot="16200000" flipV="1">
              <a:off x="4199103" y="5191254"/>
              <a:ext cx="413637" cy="1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6F6C936C-5D65-C5E6-9FC9-F3EEBEF37459}"/>
                </a:ext>
              </a:extLst>
            </p:cNvPr>
            <p:cNvCxnSpPr>
              <a:cxnSpLocks/>
              <a:stCxn id="9" idx="0"/>
              <a:endCxn id="6" idx="2"/>
            </p:cNvCxnSpPr>
            <p:nvPr/>
          </p:nvCxnSpPr>
          <p:spPr>
            <a:xfrm rot="5400000" flipH="1" flipV="1">
              <a:off x="8096480" y="2643695"/>
              <a:ext cx="894479" cy="763326"/>
            </a:xfrm>
            <a:prstGeom prst="bentConnector3">
              <a:avLst>
                <a:gd name="adj1" fmla="val 37505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E6ADA83B-CD20-FAFC-84A4-0D5394C6A840}"/>
                </a:ext>
              </a:extLst>
            </p:cNvPr>
            <p:cNvCxnSpPr>
              <a:cxnSpLocks/>
              <a:stCxn id="55" idx="0"/>
              <a:endCxn id="61" idx="2"/>
            </p:cNvCxnSpPr>
            <p:nvPr/>
          </p:nvCxnSpPr>
          <p:spPr>
            <a:xfrm rot="5400000" flipH="1" flipV="1">
              <a:off x="10656922" y="3658420"/>
              <a:ext cx="684322" cy="694358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D6624F36-2A89-1CF9-72B2-286E517C0825}"/>
                </a:ext>
              </a:extLst>
            </p:cNvPr>
            <p:cNvCxnSpPr>
              <a:cxnSpLocks/>
              <a:stCxn id="56" idx="0"/>
              <a:endCxn id="57" idx="2"/>
            </p:cNvCxnSpPr>
            <p:nvPr/>
          </p:nvCxnSpPr>
          <p:spPr>
            <a:xfrm flipH="1" flipV="1">
              <a:off x="6253244" y="2572129"/>
              <a:ext cx="1" cy="24818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DAC17410-3EE2-22EE-BCCE-A3A1E233C94F}"/>
                </a:ext>
              </a:extLst>
            </p:cNvPr>
            <p:cNvCxnSpPr>
              <a:cxnSpLocks/>
              <a:stCxn id="12" idx="2"/>
              <a:endCxn id="15" idx="1"/>
            </p:cNvCxnSpPr>
            <p:nvPr/>
          </p:nvCxnSpPr>
          <p:spPr>
            <a:xfrm rot="16200000" flipH="1">
              <a:off x="1933122" y="3937970"/>
              <a:ext cx="731972" cy="2824907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2FB6AFB-F660-8264-6B34-E12B9E5F2BD9}"/>
                </a:ext>
              </a:extLst>
            </p:cNvPr>
            <p:cNvCxnSpPr>
              <a:cxnSpLocks/>
              <a:stCxn id="12" idx="3"/>
              <a:endCxn id="17" idx="1"/>
            </p:cNvCxnSpPr>
            <p:nvPr/>
          </p:nvCxnSpPr>
          <p:spPr>
            <a:xfrm flipV="1">
              <a:off x="1581013" y="4666100"/>
              <a:ext cx="2130548" cy="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7371BB9-D93C-077F-B498-93B14DF944FF}"/>
                </a:ext>
              </a:extLst>
            </p:cNvPr>
            <p:cNvCxnSpPr>
              <a:cxnSpLocks/>
              <a:stCxn id="10" idx="3"/>
              <a:endCxn id="62" idx="1"/>
            </p:cNvCxnSpPr>
            <p:nvPr/>
          </p:nvCxnSpPr>
          <p:spPr>
            <a:xfrm flipV="1">
              <a:off x="6947604" y="4666098"/>
              <a:ext cx="520093" cy="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A0AFE310-D6A7-B831-02DE-7080564A4C1E}"/>
                </a:ext>
              </a:extLst>
            </p:cNvPr>
            <p:cNvSpPr/>
            <p:nvPr/>
          </p:nvSpPr>
          <p:spPr>
            <a:xfrm>
              <a:off x="9957545" y="4347760"/>
              <a:ext cx="1388717" cy="636673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1000" b="1" dirty="0">
                  <a:solidFill>
                    <a:schemeClr val="tx1"/>
                  </a:solidFill>
                </a:rPr>
                <a:t>Planner&lt;Actions&gt;</a:t>
              </a:r>
            </a:p>
            <a:p>
              <a:pPr algn="ctr"/>
              <a:r>
                <a:rPr lang="en-CA" sz="1000" b="1" dirty="0" err="1">
                  <a:solidFill>
                    <a:schemeClr val="tx1"/>
                  </a:solidFill>
                </a:rPr>
                <a:t>ActionConstructC</a:t>
              </a:r>
              <a:endParaRPr lang="en-CA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93DE73CD-A8C8-5229-2DFE-DC904DBB9C71}"/>
                </a:ext>
              </a:extLst>
            </p:cNvPr>
            <p:cNvSpPr/>
            <p:nvPr/>
          </p:nvSpPr>
          <p:spPr>
            <a:xfrm>
              <a:off x="5558886" y="2820310"/>
              <a:ext cx="1388717" cy="636673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1000" b="1" dirty="0">
                  <a:solidFill>
                    <a:schemeClr val="tx1"/>
                  </a:solidFill>
                </a:rPr>
                <a:t>Planner&lt;Conditions&gt;</a:t>
              </a:r>
              <a:r>
                <a:rPr lang="en-CA" sz="1000" b="1" dirty="0" err="1">
                  <a:solidFill>
                    <a:schemeClr val="tx1"/>
                  </a:solidFill>
                </a:rPr>
                <a:t>ConditionConstructC</a:t>
              </a:r>
              <a:endParaRPr lang="en-CA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90035185-4E86-E456-81FA-B2D414ED7947}"/>
                </a:ext>
              </a:extLst>
            </p:cNvPr>
            <p:cNvSpPr/>
            <p:nvPr/>
          </p:nvSpPr>
          <p:spPr>
            <a:xfrm>
              <a:off x="5558885" y="1935456"/>
              <a:ext cx="1388717" cy="636673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1000" b="1" dirty="0" err="1">
                  <a:solidFill>
                    <a:schemeClr val="tx1"/>
                  </a:solidFill>
                </a:rPr>
                <a:t>PlannerCondition</a:t>
              </a:r>
              <a:endParaRPr lang="en-CA" sz="1000" b="1" dirty="0">
                <a:solidFill>
                  <a:schemeClr val="tx1"/>
                </a:solidFill>
              </a:endParaRPr>
            </a:p>
            <a:p>
              <a:pPr algn="ctr"/>
              <a:r>
                <a:rPr lang="en-CA" sz="1000" b="1" dirty="0" err="1">
                  <a:solidFill>
                    <a:schemeClr val="tx1"/>
                  </a:solidFill>
                </a:rPr>
                <a:t>ConstructA</a:t>
              </a:r>
              <a:endParaRPr lang="en-CA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E6CCB371-8147-3935-05C0-82B0C87E44DE}"/>
                </a:ext>
              </a:extLst>
            </p:cNvPr>
            <p:cNvSpPr/>
            <p:nvPr/>
          </p:nvSpPr>
          <p:spPr>
            <a:xfrm>
              <a:off x="10651903" y="3026765"/>
              <a:ext cx="1388717" cy="636673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1000" b="1" dirty="0" err="1">
                  <a:solidFill>
                    <a:schemeClr val="tx1"/>
                  </a:solidFill>
                </a:rPr>
                <a:t>PlannerGraphAction</a:t>
              </a:r>
              <a:endParaRPr lang="en-CA" sz="1000" b="1" dirty="0">
                <a:solidFill>
                  <a:schemeClr val="tx1"/>
                </a:solidFill>
              </a:endParaRPr>
            </a:p>
            <a:p>
              <a:pPr algn="ctr"/>
              <a:r>
                <a:rPr lang="en-CA" sz="1000" b="1" dirty="0" err="1">
                  <a:solidFill>
                    <a:schemeClr val="tx1"/>
                  </a:solidFill>
                </a:rPr>
                <a:t>ConstructA</a:t>
              </a:r>
              <a:endParaRPr lang="en-CA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2535EB06-0B90-3C01-6E4D-8A251B169A23}"/>
                </a:ext>
              </a:extLst>
            </p:cNvPr>
            <p:cNvSpPr/>
            <p:nvPr/>
          </p:nvSpPr>
          <p:spPr>
            <a:xfrm>
              <a:off x="7467697" y="4347761"/>
              <a:ext cx="1388717" cy="636673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1000" b="1" dirty="0" err="1">
                  <a:solidFill>
                    <a:schemeClr val="tx1"/>
                  </a:solidFill>
                </a:rPr>
                <a:t>PlannerAction</a:t>
              </a:r>
              <a:endParaRPr lang="en-CA" sz="1000" b="1" dirty="0">
                <a:solidFill>
                  <a:schemeClr val="tx1"/>
                </a:solidFill>
              </a:endParaRPr>
            </a:p>
            <a:p>
              <a:pPr algn="ctr"/>
              <a:r>
                <a:rPr lang="en-CA" sz="1000" b="1" dirty="0" err="1">
                  <a:solidFill>
                    <a:schemeClr val="tx1"/>
                  </a:solidFill>
                </a:rPr>
                <a:t>EvaluatorConstructC</a:t>
              </a:r>
              <a:endParaRPr lang="en-CA" sz="1000" b="1" dirty="0">
                <a:solidFill>
                  <a:schemeClr val="tx1"/>
                </a:solidFill>
              </a:endParaRPr>
            </a:p>
          </p:txBody>
        </p: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4C7F0D16-178B-2E77-B699-F9ADBF473BF1}"/>
                </a:ext>
              </a:extLst>
            </p:cNvPr>
            <p:cNvCxnSpPr>
              <a:cxnSpLocks/>
              <a:stCxn id="55" idx="0"/>
              <a:endCxn id="18" idx="2"/>
            </p:cNvCxnSpPr>
            <p:nvPr/>
          </p:nvCxnSpPr>
          <p:spPr>
            <a:xfrm rot="16200000" flipV="1">
              <a:off x="9902972" y="3598827"/>
              <a:ext cx="684320" cy="813545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Rectangle: Rounded Corners 73">
              <a:extLst>
                <a:ext uri="{FF2B5EF4-FFF2-40B4-BE49-F238E27FC236}">
                  <a16:creationId xmlns:a16="http://schemas.microsoft.com/office/drawing/2014/main" id="{E0145DD0-A89F-1B47-DF1A-DADCFB75F5CB}"/>
                </a:ext>
              </a:extLst>
            </p:cNvPr>
            <p:cNvSpPr/>
            <p:nvPr/>
          </p:nvSpPr>
          <p:spPr>
            <a:xfrm>
              <a:off x="7467697" y="5250590"/>
              <a:ext cx="1388717" cy="636673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1000" b="1" dirty="0" err="1">
                  <a:solidFill>
                    <a:schemeClr val="tx1"/>
                  </a:solidFill>
                </a:rPr>
                <a:t>PlannerKnowledge</a:t>
              </a:r>
              <a:endParaRPr lang="en-CA" sz="1000" b="1" dirty="0">
                <a:solidFill>
                  <a:schemeClr val="tx1"/>
                </a:solidFill>
              </a:endParaRPr>
            </a:p>
            <a:p>
              <a:pPr algn="ctr"/>
              <a:r>
                <a:rPr lang="en-CA" sz="1000" b="1" dirty="0" err="1">
                  <a:solidFill>
                    <a:schemeClr val="tx1"/>
                  </a:solidFill>
                </a:rPr>
                <a:t>GraphC</a:t>
              </a:r>
              <a:endParaRPr lang="en-CA" sz="1000" b="1" dirty="0">
                <a:solidFill>
                  <a:schemeClr val="tx1"/>
                </a:solidFill>
              </a:endParaRPr>
            </a:p>
          </p:txBody>
        </p: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F8EAB703-422D-9003-613C-DFFCEAC0521D}"/>
                </a:ext>
              </a:extLst>
            </p:cNvPr>
            <p:cNvCxnSpPr>
              <a:cxnSpLocks/>
              <a:stCxn id="56" idx="3"/>
              <a:endCxn id="9" idx="0"/>
            </p:cNvCxnSpPr>
            <p:nvPr/>
          </p:nvCxnSpPr>
          <p:spPr>
            <a:xfrm>
              <a:off x="6947603" y="3138647"/>
              <a:ext cx="1214453" cy="333950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0B126C39-0011-7C83-E314-568FA2D70558}"/>
                </a:ext>
              </a:extLst>
            </p:cNvPr>
            <p:cNvCxnSpPr>
              <a:cxnSpLocks/>
              <a:stCxn id="74" idx="0"/>
              <a:endCxn id="10" idx="2"/>
            </p:cNvCxnSpPr>
            <p:nvPr/>
          </p:nvCxnSpPr>
          <p:spPr>
            <a:xfrm rot="16200000" flipV="1">
              <a:off x="7074574" y="4163108"/>
              <a:ext cx="266154" cy="1908810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8EA61BFF-362A-9163-0795-E837E5933C14}"/>
                </a:ext>
              </a:extLst>
            </p:cNvPr>
            <p:cNvCxnSpPr>
              <a:cxnSpLocks/>
              <a:stCxn id="11" idx="3"/>
              <a:endCxn id="74" idx="2"/>
            </p:cNvCxnSpPr>
            <p:nvPr/>
          </p:nvCxnSpPr>
          <p:spPr>
            <a:xfrm flipV="1">
              <a:off x="6947601" y="5887263"/>
              <a:ext cx="1214455" cy="99834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0836986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">
      <a:dk1>
        <a:srgbClr val="000000"/>
      </a:dk1>
      <a:lt1>
        <a:srgbClr val="FFFFFF"/>
      </a:lt1>
      <a:dk2>
        <a:srgbClr val="243541"/>
      </a:dk2>
      <a:lt2>
        <a:srgbClr val="E2E5E8"/>
      </a:lt2>
      <a:accent1>
        <a:srgbClr val="E88B33"/>
      </a:accent1>
      <a:accent2>
        <a:srgbClr val="AEA33A"/>
      </a:accent2>
      <a:accent3>
        <a:srgbClr val="8CAB4A"/>
      </a:accent3>
      <a:accent4>
        <a:srgbClr val="57B636"/>
      </a:accent4>
      <a:accent5>
        <a:srgbClr val="2EBA43"/>
      </a:accent5>
      <a:accent6>
        <a:srgbClr val="33B67D"/>
      </a:accent6>
      <a:hlink>
        <a:srgbClr val="5F84A8"/>
      </a:hlink>
      <a:folHlink>
        <a:srgbClr val="7F7F7F"/>
      </a:folHlink>
    </a:clrScheme>
    <a:fontScheme name="Retrospect">
      <a:majorFont>
        <a:latin typeface="Georgia Pro Cond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peak Pro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Override1.xml><?xml version="1.0" encoding="utf-8"?>
<a:themeOverride xmlns:a="http://schemas.openxmlformats.org/drawingml/2006/main">
  <a:clrScheme name="Custom 40">
    <a:dk1>
      <a:sysClr val="windowText" lastClr="000000"/>
    </a:dk1>
    <a:lt1>
      <a:sysClr val="window" lastClr="FFFFFF"/>
    </a:lt1>
    <a:dk2>
      <a:srgbClr val="545D57"/>
    </a:dk2>
    <a:lt2>
      <a:srgbClr val="EBEBE8"/>
    </a:lt2>
    <a:accent1>
      <a:srgbClr val="579858"/>
    </a:accent1>
    <a:accent2>
      <a:srgbClr val="ED583E"/>
    </a:accent2>
    <a:accent3>
      <a:srgbClr val="D3BA59"/>
    </a:accent3>
    <a:accent4>
      <a:srgbClr val="4C94AC"/>
    </a:accent4>
    <a:accent5>
      <a:srgbClr val="A09E84"/>
    </a:accent5>
    <a:accent6>
      <a:srgbClr val="FC7D4A"/>
    </a:accent6>
    <a:hlink>
      <a:srgbClr val="04A2DA"/>
    </a:hlink>
    <a:folHlink>
      <a:srgbClr val="80808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F3CD65D-61A5-43C9-A837-6EC73C7DA8AB}">
  <ds:schemaRefs>
    <ds:schemaRef ds:uri="http://www.w3.org/XML/1998/namespace"/>
    <ds:schemaRef ds:uri="16c05727-aa75-4e4a-9b5f-8a80a1165891"/>
    <ds:schemaRef ds:uri="http://schemas.microsoft.com/office/2006/metadata/properties"/>
    <ds:schemaRef ds:uri="71af3243-3dd4-4a8d-8c0d-dd76da1f02a5"/>
    <ds:schemaRef ds:uri="http://purl.org/dc/terms/"/>
    <ds:schemaRef ds:uri="http://purl.org/dc/dcmitype/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31F006B4-A9E1-4F39-85C8-FB836F91934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6377351-63A1-4C2E-8C9A-66CDD70F16A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{3FC61BAB-1325-4C60-A8F1-0BC8DE5CE767}TF235124e3-e6db-4c6d-93c8-733f2fadbc609fb6f57c_win32-b1e91d96f19e</Template>
  <TotalTime>10195</TotalTime>
  <Words>767</Words>
  <Application>Microsoft Office PowerPoint</Application>
  <PresentationFormat>Widescreen</PresentationFormat>
  <Paragraphs>181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Georgia Pro Cond Light</vt:lpstr>
      <vt:lpstr>Speak Pro</vt:lpstr>
      <vt:lpstr>Wingdings</vt:lpstr>
      <vt:lpstr>RetrospectVTI</vt:lpstr>
      <vt:lpstr>Using an Intelligent Agent To Assist with Application Portfolio Management</vt:lpstr>
      <vt:lpstr>Application Portfolio Management (APM)</vt:lpstr>
      <vt:lpstr>The problem…</vt:lpstr>
      <vt:lpstr>The opportunity…</vt:lpstr>
      <vt:lpstr>Business and Tech Leads provide the data</vt:lpstr>
      <vt:lpstr>Enterprise Architecture provides the rules</vt:lpstr>
      <vt:lpstr>Intelligent Agents provide the architecture</vt:lpstr>
      <vt:lpstr>APM rules build / search Knowledge Graph</vt:lpstr>
      <vt:lpstr>Resources</vt:lpstr>
      <vt:lpstr>Planning Agent Design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Cameron Turner</dc:creator>
  <cp:lastModifiedBy>Cameron Turner</cp:lastModifiedBy>
  <cp:revision>274</cp:revision>
  <dcterms:created xsi:type="dcterms:W3CDTF">2025-11-25T15:54:38Z</dcterms:created>
  <dcterms:modified xsi:type="dcterms:W3CDTF">2025-12-02T17:50:37Z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